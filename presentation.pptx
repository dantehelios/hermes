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6"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6" d="100"/>
          <a:sy n="166" d="100"/>
        </p:scale>
        <p:origin x="27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2199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541"/>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B82F6"/>
          </a:solidFill>
          <a:ln/>
        </p:spPr>
        <p:txBody>
          <a:bodyPr/>
          <a:lstStyle/>
          <a:p>
            <a:endParaRPr lang="en-US"/>
          </a:p>
        </p:txBody>
      </p:sp>
      <p:sp>
        <p:nvSpPr>
          <p:cNvPr id="3" name="Text 1"/>
          <p:cNvSpPr/>
          <p:nvPr/>
        </p:nvSpPr>
        <p:spPr>
          <a:xfrm>
            <a:off x="731520" y="731520"/>
            <a:ext cx="5943600" cy="2560320"/>
          </a:xfrm>
          <a:prstGeom prst="rect">
            <a:avLst/>
          </a:prstGeom>
          <a:noFill/>
          <a:ln/>
        </p:spPr>
        <p:txBody>
          <a:bodyPr wrap="square" lIns="0" tIns="0" rIns="0" bIns="0" rtlCol="0" anchor="ctr"/>
          <a:lstStyle/>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The Link Between</a:t>
            </a:r>
            <a:endParaRPr lang="en-US" sz="3800" dirty="0"/>
          </a:p>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Social Media and the</a:t>
            </a:r>
            <a:endParaRPr lang="en-US" sz="3800" dirty="0"/>
          </a:p>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Rise in Gang Culture</a:t>
            </a:r>
            <a:endParaRPr lang="en-US" sz="3800" dirty="0"/>
          </a:p>
        </p:txBody>
      </p:sp>
      <p:sp>
        <p:nvSpPr>
          <p:cNvPr id="4" name="Text 2"/>
          <p:cNvSpPr/>
          <p:nvPr/>
        </p:nvSpPr>
        <p:spPr>
          <a:xfrm>
            <a:off x="731520" y="3383280"/>
            <a:ext cx="5943600" cy="457200"/>
          </a:xfrm>
          <a:prstGeom prst="rect">
            <a:avLst/>
          </a:prstGeom>
          <a:noFill/>
          <a:ln/>
        </p:spPr>
        <p:txBody>
          <a:bodyPr wrap="square" lIns="0" tIns="0" rIns="0" bIns="0" rtlCol="0" anchor="ctr"/>
          <a:lstStyle/>
          <a:p>
            <a:pPr marL="0" indent="0">
              <a:buNone/>
            </a:pPr>
            <a:r>
              <a:rPr lang="en-US" sz="1400" dirty="0">
                <a:solidFill>
                  <a:srgbClr val="60A5FA"/>
                </a:solidFill>
                <a:latin typeface="Calibri" pitchFamily="34" charset="0"/>
                <a:ea typeface="Calibri" pitchFamily="34" charset="-122"/>
                <a:cs typeface="Calibri" pitchFamily="34" charset="-120"/>
              </a:rPr>
              <a:t>SP26 The Psychology of Crime and Justice in the UK</a:t>
            </a:r>
            <a:endParaRPr lang="en-US" sz="1400" dirty="0"/>
          </a:p>
        </p:txBody>
      </p:sp>
      <p:sp>
        <p:nvSpPr>
          <p:cNvPr id="5" name="Text 3"/>
          <p:cNvSpPr/>
          <p:nvPr/>
        </p:nvSpPr>
        <p:spPr>
          <a:xfrm>
            <a:off x="731520" y="4023360"/>
            <a:ext cx="3657600" cy="36576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Enrique Perezalonso</a:t>
            </a:r>
            <a:endParaRPr lang="en-US" sz="1300" dirty="0"/>
          </a:p>
        </p:txBody>
      </p:sp>
      <p:sp>
        <p:nvSpPr>
          <p:cNvPr id="6" name="Shape 4"/>
          <p:cNvSpPr/>
          <p:nvPr/>
        </p:nvSpPr>
        <p:spPr>
          <a:xfrm>
            <a:off x="6583680" y="731520"/>
            <a:ext cx="3291840" cy="3291840"/>
          </a:xfrm>
          <a:prstGeom prst="ellipse">
            <a:avLst/>
          </a:prstGeom>
          <a:solidFill>
            <a:srgbClr val="2D3A5C"/>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498080" y="1645920"/>
            <a:ext cx="1463040" cy="1463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548640"/>
          </a:xfrm>
          <a:prstGeom prst="rect">
            <a:avLst/>
          </a:prstGeom>
          <a:noFill/>
          <a:ln/>
        </p:spPr>
        <p:txBody>
          <a:bodyPr wrap="square" lIns="0" tIns="0" rIns="0" bIns="0" rtlCol="0" anchor="ctr"/>
          <a:lstStyle/>
          <a:p>
            <a:pPr marL="0" indent="0">
              <a:buNone/>
            </a:pPr>
            <a:r>
              <a:rPr lang="en-US" sz="3000" b="1" dirty="0">
                <a:solidFill>
                  <a:srgbClr val="1B2541"/>
                </a:solidFill>
                <a:latin typeface="Georgia" pitchFamily="34" charset="0"/>
                <a:ea typeface="Georgia" pitchFamily="34" charset="-122"/>
                <a:cs typeface="Georgia" pitchFamily="34" charset="-120"/>
              </a:rPr>
              <a:t>Research Topic</a:t>
            </a:r>
            <a:endParaRPr lang="en-US" sz="3000" dirty="0"/>
          </a:p>
        </p:txBody>
      </p:sp>
      <p:sp>
        <p:nvSpPr>
          <p:cNvPr id="3" name="Shape 1"/>
          <p:cNvSpPr/>
          <p:nvPr/>
        </p:nvSpPr>
        <p:spPr>
          <a:xfrm>
            <a:off x="640080" y="1188720"/>
            <a:ext cx="5303520" cy="3566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Text 2"/>
          <p:cNvSpPr/>
          <p:nvPr/>
        </p:nvSpPr>
        <p:spPr>
          <a:xfrm>
            <a:off x="914400" y="1371600"/>
            <a:ext cx="4754880" cy="2926080"/>
          </a:xfrm>
          <a:prstGeom prst="rect">
            <a:avLst/>
          </a:prstGeom>
          <a:noFill/>
          <a:ln/>
        </p:spPr>
        <p:txBody>
          <a:bodyPr wrap="square" lIns="0" tIns="0" rIns="0" bIns="0" rtlCol="0" anchor="t"/>
          <a:lstStyle/>
          <a:p>
            <a:pPr marL="0" indent="0">
              <a:lnSpc>
                <a:spcPct val="140000"/>
              </a:lnSpc>
              <a:buNone/>
            </a:pPr>
            <a:r>
              <a:rPr lang="en-US" sz="1400" dirty="0">
                <a:solidFill>
                  <a:srgbClr val="1E293B"/>
                </a:solidFill>
                <a:latin typeface="Calibri" pitchFamily="34" charset="0"/>
                <a:ea typeface="Calibri" pitchFamily="34" charset="-122"/>
                <a:cs typeface="Calibri" pitchFamily="34" charset="-120"/>
              </a:rPr>
              <a:t>This research examines the relationship between social media and criminal radicalisation, focusing on how platforms such as TikTok, X (Twitter), and Instagram have facilitated the formation and expansion of gang culture among adults.</a:t>
            </a:r>
            <a:endParaRPr lang="en-US" sz="1400" dirty="0"/>
          </a:p>
          <a:p>
            <a:pPr marL="0" indent="0">
              <a:buNone/>
            </a:pPr>
            <a:endParaRPr lang="en-US" sz="1400" dirty="0"/>
          </a:p>
          <a:p>
            <a:pPr marL="0" indent="0">
              <a:lnSpc>
                <a:spcPct val="140000"/>
              </a:lnSpc>
              <a:buNone/>
            </a:pPr>
            <a:r>
              <a:rPr lang="en-US" sz="1400" dirty="0">
                <a:solidFill>
                  <a:srgbClr val="1E293B"/>
                </a:solidFill>
                <a:latin typeface="Calibri" pitchFamily="34" charset="0"/>
                <a:ea typeface="Calibri" pitchFamily="34" charset="-122"/>
                <a:cs typeface="Calibri" pitchFamily="34" charset="-120"/>
              </a:rPr>
              <a:t>It investigates how algorithmic content recommendation exposes vulnerable individuals to radicalising material, and how socio-economic background shapes susceptibility to gang-related content online.</a:t>
            </a:r>
            <a:endParaRPr lang="en-US" sz="1400" dirty="0"/>
          </a:p>
        </p:txBody>
      </p:sp>
      <p:sp>
        <p:nvSpPr>
          <p:cNvPr id="5" name="Shape 3"/>
          <p:cNvSpPr/>
          <p:nvPr/>
        </p:nvSpPr>
        <p:spPr>
          <a:xfrm>
            <a:off x="6400800" y="1188720"/>
            <a:ext cx="2286000" cy="3566160"/>
          </a:xfrm>
          <a:prstGeom prst="rect">
            <a:avLst/>
          </a:prstGeom>
          <a:solidFill>
            <a:srgbClr val="1B2541"/>
          </a:solidFill>
          <a:ln/>
          <a:effectLst>
            <a:outerShdw blurRad="76200" dist="25400" dir="8100000" algn="bl" rotWithShape="0">
              <a:srgbClr val="000000">
                <a:alpha val="12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178040" y="1554480"/>
            <a:ext cx="731520" cy="731520"/>
          </a:xfrm>
          <a:prstGeom prst="rect">
            <a:avLst/>
          </a:prstGeom>
        </p:spPr>
      </p:pic>
      <p:sp>
        <p:nvSpPr>
          <p:cNvPr id="7" name="Text 4"/>
          <p:cNvSpPr/>
          <p:nvPr/>
        </p:nvSpPr>
        <p:spPr>
          <a:xfrm>
            <a:off x="6537960" y="2423160"/>
            <a:ext cx="20116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Key Focus Areas</a:t>
            </a:r>
            <a:endParaRPr lang="en-US" sz="1300" dirty="0"/>
          </a:p>
        </p:txBody>
      </p:sp>
      <p:sp>
        <p:nvSpPr>
          <p:cNvPr id="8" name="Text 5"/>
          <p:cNvSpPr/>
          <p:nvPr/>
        </p:nvSpPr>
        <p:spPr>
          <a:xfrm>
            <a:off x="6537960" y="2926080"/>
            <a:ext cx="2011680" cy="1280160"/>
          </a:xfrm>
          <a:prstGeom prst="rect">
            <a:avLst/>
          </a:prstGeom>
          <a:noFill/>
          <a:ln/>
        </p:spPr>
        <p:txBody>
          <a:bodyPr wrap="square" lIns="0" tIns="0" rIns="0" bIns="0" rtlCol="0" anchor="ctr"/>
          <a:lstStyle/>
          <a:p>
            <a:pPr marL="0" indent="0" algn="ctr">
              <a:lnSpc>
                <a:spcPct val="160000"/>
              </a:lnSpc>
              <a:buNone/>
            </a:pPr>
            <a:r>
              <a:rPr lang="en-US" sz="1100" dirty="0">
                <a:solidFill>
                  <a:srgbClr val="60A5FA"/>
                </a:solidFill>
                <a:latin typeface="Calibri" pitchFamily="34" charset="0"/>
                <a:ea typeface="Calibri" pitchFamily="34" charset="-122"/>
                <a:cs typeface="Calibri" pitchFamily="34" charset="-120"/>
              </a:rPr>
              <a:t>Social media platforms</a:t>
            </a:r>
            <a:endParaRPr lang="en-US" sz="1100" dirty="0"/>
          </a:p>
          <a:p>
            <a:pPr marL="0" indent="0" algn="ctr">
              <a:lnSpc>
                <a:spcPct val="160000"/>
              </a:lnSpc>
              <a:buNone/>
            </a:pPr>
            <a:r>
              <a:rPr lang="en-US" sz="1100" dirty="0">
                <a:solidFill>
                  <a:srgbClr val="60A5FA"/>
                </a:solidFill>
                <a:latin typeface="Calibri" pitchFamily="34" charset="0"/>
                <a:ea typeface="Calibri" pitchFamily="34" charset="-122"/>
                <a:cs typeface="Calibri" pitchFamily="34" charset="-120"/>
              </a:rPr>
              <a:t>Algorithmic radicalisation</a:t>
            </a:r>
            <a:endParaRPr lang="en-US" sz="1100" dirty="0"/>
          </a:p>
          <a:p>
            <a:pPr marL="0" indent="0" algn="ctr">
              <a:lnSpc>
                <a:spcPct val="160000"/>
              </a:lnSpc>
              <a:buNone/>
            </a:pPr>
            <a:r>
              <a:rPr lang="en-US" sz="1100" dirty="0">
                <a:solidFill>
                  <a:srgbClr val="60A5FA"/>
                </a:solidFill>
                <a:latin typeface="Calibri" pitchFamily="34" charset="0"/>
                <a:ea typeface="Calibri" pitchFamily="34" charset="-122"/>
                <a:cs typeface="Calibri" pitchFamily="34" charset="-120"/>
              </a:rPr>
              <a:t>Gang recruitment online</a:t>
            </a:r>
            <a:endParaRPr lang="en-US" sz="1100" dirty="0"/>
          </a:p>
          <a:p>
            <a:pPr marL="0" indent="0" algn="ctr">
              <a:lnSpc>
                <a:spcPct val="160000"/>
              </a:lnSpc>
              <a:buNone/>
            </a:pPr>
            <a:r>
              <a:rPr lang="en-US" sz="1100" dirty="0">
                <a:solidFill>
                  <a:srgbClr val="60A5FA"/>
                </a:solidFill>
                <a:latin typeface="Calibri" pitchFamily="34" charset="0"/>
                <a:ea typeface="Calibri" pitchFamily="34" charset="-122"/>
                <a:cs typeface="Calibri" pitchFamily="34" charset="-120"/>
              </a:rPr>
              <a:t>Socio-economic factors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548640"/>
          </a:xfrm>
          <a:prstGeom prst="rect">
            <a:avLst/>
          </a:prstGeom>
          <a:noFill/>
          <a:ln/>
        </p:spPr>
        <p:txBody>
          <a:bodyPr wrap="square" lIns="0" tIns="0" rIns="0" bIns="0" rtlCol="0" anchor="ctr"/>
          <a:lstStyle/>
          <a:p>
            <a:pPr marL="0" indent="0">
              <a:buNone/>
            </a:pPr>
            <a:r>
              <a:rPr lang="en-US" sz="3000" b="1" dirty="0">
                <a:solidFill>
                  <a:srgbClr val="1B2541"/>
                </a:solidFill>
                <a:latin typeface="Georgia" pitchFamily="34" charset="0"/>
                <a:ea typeface="Georgia" pitchFamily="34" charset="-122"/>
                <a:cs typeface="Georgia" pitchFamily="34" charset="-120"/>
              </a:rPr>
              <a:t>Research Questions</a:t>
            </a:r>
            <a:endParaRPr lang="en-US" sz="3000" dirty="0"/>
          </a:p>
        </p:txBody>
      </p:sp>
      <p:sp>
        <p:nvSpPr>
          <p:cNvPr id="3" name="Shape 1"/>
          <p:cNvSpPr/>
          <p:nvPr/>
        </p:nvSpPr>
        <p:spPr>
          <a:xfrm>
            <a:off x="457200" y="1097280"/>
            <a:ext cx="2651760" cy="3657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457200" y="1097280"/>
            <a:ext cx="2651760" cy="73152"/>
          </a:xfrm>
          <a:prstGeom prst="rect">
            <a:avLst/>
          </a:prstGeom>
          <a:solidFill>
            <a:srgbClr val="3B82F6"/>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417320" y="1417320"/>
            <a:ext cx="640080" cy="640080"/>
          </a:xfrm>
          <a:prstGeom prst="rect">
            <a:avLst/>
          </a:prstGeom>
        </p:spPr>
      </p:pic>
      <p:sp>
        <p:nvSpPr>
          <p:cNvPr id="6" name="Text 3"/>
          <p:cNvSpPr/>
          <p:nvPr/>
        </p:nvSpPr>
        <p:spPr>
          <a:xfrm>
            <a:off x="640080" y="2240280"/>
            <a:ext cx="2286000" cy="365760"/>
          </a:xfrm>
          <a:prstGeom prst="rect">
            <a:avLst/>
          </a:prstGeom>
          <a:noFill/>
          <a:ln/>
        </p:spPr>
        <p:txBody>
          <a:bodyPr wrap="square" lIns="0" tIns="0" rIns="0" bIns="0" rtlCol="0" anchor="ctr"/>
          <a:lstStyle/>
          <a:p>
            <a:pPr marL="0" indent="0" algn="ctr">
              <a:buNone/>
            </a:pPr>
            <a:r>
              <a:rPr lang="en-US" sz="1600" b="1" dirty="0">
                <a:solidFill>
                  <a:srgbClr val="3B82F6"/>
                </a:solidFill>
                <a:latin typeface="Georgia" pitchFamily="34" charset="0"/>
                <a:ea typeface="Georgia" pitchFamily="34" charset="-122"/>
                <a:cs typeface="Georgia" pitchFamily="34" charset="-120"/>
              </a:rPr>
              <a:t>RQ1</a:t>
            </a:r>
            <a:endParaRPr lang="en-US" sz="1600" dirty="0"/>
          </a:p>
        </p:txBody>
      </p:sp>
      <p:sp>
        <p:nvSpPr>
          <p:cNvPr id="7" name="Text 4"/>
          <p:cNvSpPr/>
          <p:nvPr/>
        </p:nvSpPr>
        <p:spPr>
          <a:xfrm>
            <a:off x="640080" y="2651760"/>
            <a:ext cx="2286000" cy="1920240"/>
          </a:xfrm>
          <a:prstGeom prst="rect">
            <a:avLst/>
          </a:prstGeom>
          <a:noFill/>
          <a:ln/>
        </p:spPr>
        <p:txBody>
          <a:bodyPr wrap="square" lIns="0" tIns="0" rIns="0" bIns="0" rtlCol="0" anchor="t"/>
          <a:lstStyle/>
          <a:p>
            <a:pPr marL="0" indent="0" algn="ctr">
              <a:lnSpc>
                <a:spcPct val="135000"/>
              </a:lnSpc>
              <a:buNone/>
            </a:pPr>
            <a:r>
              <a:rPr lang="en-US" sz="1200" dirty="0">
                <a:solidFill>
                  <a:srgbClr val="1E293B"/>
                </a:solidFill>
                <a:latin typeface="Calibri" pitchFamily="34" charset="0"/>
                <a:ea typeface="Calibri" pitchFamily="34" charset="-122"/>
                <a:cs typeface="Calibri" pitchFamily="34" charset="-120"/>
              </a:rPr>
              <a:t>Does participation in social media-based gang culture and online radical communities contribute to real criminal behaviour and violence among adults?</a:t>
            </a:r>
            <a:endParaRPr lang="en-US" sz="1200" dirty="0"/>
          </a:p>
        </p:txBody>
      </p:sp>
      <p:sp>
        <p:nvSpPr>
          <p:cNvPr id="8" name="Shape 5"/>
          <p:cNvSpPr/>
          <p:nvPr/>
        </p:nvSpPr>
        <p:spPr>
          <a:xfrm>
            <a:off x="3337560" y="1097280"/>
            <a:ext cx="2651760" cy="3657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6"/>
          <p:cNvSpPr/>
          <p:nvPr/>
        </p:nvSpPr>
        <p:spPr>
          <a:xfrm>
            <a:off x="3337560" y="1097280"/>
            <a:ext cx="2651760" cy="73152"/>
          </a:xfrm>
          <a:prstGeom prst="rect">
            <a:avLst/>
          </a:prstGeom>
          <a:solidFill>
            <a:srgbClr val="3B82F6"/>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4297680" y="1417320"/>
            <a:ext cx="640080" cy="640080"/>
          </a:xfrm>
          <a:prstGeom prst="rect">
            <a:avLst/>
          </a:prstGeom>
        </p:spPr>
      </p:pic>
      <p:sp>
        <p:nvSpPr>
          <p:cNvPr id="11" name="Text 7"/>
          <p:cNvSpPr/>
          <p:nvPr/>
        </p:nvSpPr>
        <p:spPr>
          <a:xfrm>
            <a:off x="3520440" y="2240280"/>
            <a:ext cx="2286000" cy="365760"/>
          </a:xfrm>
          <a:prstGeom prst="rect">
            <a:avLst/>
          </a:prstGeom>
          <a:noFill/>
          <a:ln/>
        </p:spPr>
        <p:txBody>
          <a:bodyPr wrap="square" lIns="0" tIns="0" rIns="0" bIns="0" rtlCol="0" anchor="ctr"/>
          <a:lstStyle/>
          <a:p>
            <a:pPr marL="0" indent="0" algn="ctr">
              <a:buNone/>
            </a:pPr>
            <a:r>
              <a:rPr lang="en-US" sz="1600" b="1" dirty="0">
                <a:solidFill>
                  <a:srgbClr val="3B82F6"/>
                </a:solidFill>
                <a:latin typeface="Georgia" pitchFamily="34" charset="0"/>
                <a:ea typeface="Georgia" pitchFamily="34" charset="-122"/>
                <a:cs typeface="Georgia" pitchFamily="34" charset="-120"/>
              </a:rPr>
              <a:t>RQ2</a:t>
            </a:r>
            <a:endParaRPr lang="en-US" sz="1600" dirty="0"/>
          </a:p>
        </p:txBody>
      </p:sp>
      <p:sp>
        <p:nvSpPr>
          <p:cNvPr id="12" name="Text 8"/>
          <p:cNvSpPr/>
          <p:nvPr/>
        </p:nvSpPr>
        <p:spPr>
          <a:xfrm>
            <a:off x="3520440" y="2651760"/>
            <a:ext cx="2286000" cy="1920240"/>
          </a:xfrm>
          <a:prstGeom prst="rect">
            <a:avLst/>
          </a:prstGeom>
          <a:noFill/>
          <a:ln/>
        </p:spPr>
        <p:txBody>
          <a:bodyPr wrap="square" lIns="0" tIns="0" rIns="0" bIns="0" rtlCol="0" anchor="t"/>
          <a:lstStyle/>
          <a:p>
            <a:pPr marL="0" indent="0" algn="ctr">
              <a:lnSpc>
                <a:spcPct val="135000"/>
              </a:lnSpc>
              <a:buNone/>
            </a:pPr>
            <a:r>
              <a:rPr lang="en-US" sz="1200" dirty="0">
                <a:solidFill>
                  <a:srgbClr val="1E293B"/>
                </a:solidFill>
                <a:latin typeface="Calibri" pitchFamily="34" charset="0"/>
                <a:ea typeface="Calibri" pitchFamily="34" charset="-122"/>
                <a:cs typeface="Calibri" pitchFamily="34" charset="-120"/>
              </a:rPr>
              <a:t>Do encryption-based messaging apps actively contribute to real-life criminal activities and gang recruitment?</a:t>
            </a:r>
            <a:endParaRPr lang="en-US" sz="1200" dirty="0"/>
          </a:p>
        </p:txBody>
      </p:sp>
      <p:sp>
        <p:nvSpPr>
          <p:cNvPr id="13" name="Shape 9"/>
          <p:cNvSpPr/>
          <p:nvPr/>
        </p:nvSpPr>
        <p:spPr>
          <a:xfrm>
            <a:off x="6217920" y="1097280"/>
            <a:ext cx="2651760" cy="3657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0"/>
          <p:cNvSpPr/>
          <p:nvPr/>
        </p:nvSpPr>
        <p:spPr>
          <a:xfrm>
            <a:off x="6217920" y="1097280"/>
            <a:ext cx="2651760" cy="73152"/>
          </a:xfrm>
          <a:prstGeom prst="rect">
            <a:avLst/>
          </a:prstGeom>
          <a:solidFill>
            <a:srgbClr val="3B82F6"/>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7178040" y="1417320"/>
            <a:ext cx="640080" cy="640080"/>
          </a:xfrm>
          <a:prstGeom prst="rect">
            <a:avLst/>
          </a:prstGeom>
        </p:spPr>
      </p:pic>
      <p:sp>
        <p:nvSpPr>
          <p:cNvPr id="16" name="Text 11"/>
          <p:cNvSpPr/>
          <p:nvPr/>
        </p:nvSpPr>
        <p:spPr>
          <a:xfrm>
            <a:off x="6400800" y="2240280"/>
            <a:ext cx="2286000" cy="365760"/>
          </a:xfrm>
          <a:prstGeom prst="rect">
            <a:avLst/>
          </a:prstGeom>
          <a:noFill/>
          <a:ln/>
        </p:spPr>
        <p:txBody>
          <a:bodyPr wrap="square" lIns="0" tIns="0" rIns="0" bIns="0" rtlCol="0" anchor="ctr"/>
          <a:lstStyle/>
          <a:p>
            <a:pPr marL="0" indent="0" algn="ctr">
              <a:buNone/>
            </a:pPr>
            <a:r>
              <a:rPr lang="en-US" sz="1600" b="1" dirty="0">
                <a:solidFill>
                  <a:srgbClr val="3B82F6"/>
                </a:solidFill>
                <a:latin typeface="Georgia" pitchFamily="34" charset="0"/>
                <a:ea typeface="Georgia" pitchFamily="34" charset="-122"/>
                <a:cs typeface="Georgia" pitchFamily="34" charset="-120"/>
              </a:rPr>
              <a:t>RQ3</a:t>
            </a:r>
            <a:endParaRPr lang="en-US" sz="1600" dirty="0"/>
          </a:p>
        </p:txBody>
      </p:sp>
      <p:sp>
        <p:nvSpPr>
          <p:cNvPr id="17" name="Text 12"/>
          <p:cNvSpPr/>
          <p:nvPr/>
        </p:nvSpPr>
        <p:spPr>
          <a:xfrm>
            <a:off x="6400800" y="2651760"/>
            <a:ext cx="2286000" cy="1920240"/>
          </a:xfrm>
          <a:prstGeom prst="rect">
            <a:avLst/>
          </a:prstGeom>
          <a:noFill/>
          <a:ln/>
        </p:spPr>
        <p:txBody>
          <a:bodyPr wrap="square" lIns="0" tIns="0" rIns="0" bIns="0" rtlCol="0" anchor="t"/>
          <a:lstStyle/>
          <a:p>
            <a:pPr marL="0" indent="0" algn="ctr">
              <a:lnSpc>
                <a:spcPct val="135000"/>
              </a:lnSpc>
              <a:buNone/>
            </a:pPr>
            <a:r>
              <a:rPr lang="en-US" sz="1200" dirty="0">
                <a:solidFill>
                  <a:srgbClr val="1E293B"/>
                </a:solidFill>
                <a:latin typeface="Calibri" pitchFamily="34" charset="0"/>
                <a:ea typeface="Calibri" pitchFamily="34" charset="-122"/>
                <a:cs typeface="Calibri" pitchFamily="34" charset="-120"/>
              </a:rPr>
              <a:t>How do socio-economic factors and location affect whether social media pushes an individual towards gang culture or extreme beliefs?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548640"/>
          </a:xfrm>
          <a:prstGeom prst="rect">
            <a:avLst/>
          </a:prstGeom>
          <a:noFill/>
          <a:ln/>
        </p:spPr>
        <p:txBody>
          <a:bodyPr wrap="square" lIns="0" tIns="0" rIns="0" bIns="0" rtlCol="0" anchor="ctr"/>
          <a:lstStyle/>
          <a:p>
            <a:pPr marL="0" indent="0">
              <a:buNone/>
            </a:pPr>
            <a:r>
              <a:rPr lang="en-US" sz="3000" b="1" dirty="0">
                <a:solidFill>
                  <a:srgbClr val="1B2541"/>
                </a:solidFill>
                <a:latin typeface="Georgia" pitchFamily="34" charset="0"/>
                <a:ea typeface="Georgia" pitchFamily="34" charset="-122"/>
                <a:cs typeface="Georgia" pitchFamily="34" charset="-120"/>
              </a:rPr>
              <a:t>Theoretical Framework</a:t>
            </a:r>
            <a:endParaRPr lang="en-US" sz="3000" dirty="0"/>
          </a:p>
        </p:txBody>
      </p:sp>
      <p:sp>
        <p:nvSpPr>
          <p:cNvPr id="3" name="Text 1"/>
          <p:cNvSpPr/>
          <p:nvPr/>
        </p:nvSpPr>
        <p:spPr>
          <a:xfrm>
            <a:off x="640080" y="1051560"/>
            <a:ext cx="7863840" cy="411480"/>
          </a:xfrm>
          <a:prstGeom prst="rect">
            <a:avLst/>
          </a:prstGeom>
          <a:noFill/>
          <a:ln/>
        </p:spPr>
        <p:txBody>
          <a:bodyPr wrap="square" lIns="0" tIns="0" rIns="0" bIns="0" rtlCol="0" anchor="ctr"/>
          <a:lstStyle/>
          <a:p>
            <a:pPr marL="0" indent="0">
              <a:buNone/>
            </a:pPr>
            <a:r>
              <a:rPr lang="en-US" sz="1300" i="1" dirty="0">
                <a:solidFill>
                  <a:srgbClr val="1E293B"/>
                </a:solidFill>
                <a:latin typeface="Calibri" pitchFamily="34" charset="0"/>
                <a:ea typeface="Calibri" pitchFamily="34" charset="-122"/>
                <a:cs typeface="Calibri" pitchFamily="34" charset="-120"/>
              </a:rPr>
              <a:t>This essay is guided by an integrated analytical lens drawing on three key criminological theories:</a:t>
            </a:r>
            <a:endParaRPr lang="en-US" sz="1300" dirty="0"/>
          </a:p>
        </p:txBody>
      </p:sp>
      <p:sp>
        <p:nvSpPr>
          <p:cNvPr id="4" name="Shape 2"/>
          <p:cNvSpPr/>
          <p:nvPr/>
        </p:nvSpPr>
        <p:spPr>
          <a:xfrm>
            <a:off x="640080" y="1645920"/>
            <a:ext cx="7863840" cy="914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Shape 3"/>
          <p:cNvSpPr/>
          <p:nvPr/>
        </p:nvSpPr>
        <p:spPr>
          <a:xfrm>
            <a:off x="640080" y="1645920"/>
            <a:ext cx="73152" cy="914400"/>
          </a:xfrm>
          <a:prstGeom prst="rect">
            <a:avLst/>
          </a:prstGeom>
          <a:solidFill>
            <a:srgbClr val="3B82F6"/>
          </a:solidFill>
          <a:ln/>
        </p:spPr>
        <p:txBody>
          <a:bodyPr/>
          <a:lstStyle/>
          <a:p>
            <a:endParaRPr lang="en-US"/>
          </a:p>
        </p:txBody>
      </p:sp>
      <p:sp>
        <p:nvSpPr>
          <p:cNvPr id="6" name="Text 4"/>
          <p:cNvSpPr/>
          <p:nvPr/>
        </p:nvSpPr>
        <p:spPr>
          <a:xfrm>
            <a:off x="960120" y="1719072"/>
            <a:ext cx="2743200" cy="320040"/>
          </a:xfrm>
          <a:prstGeom prst="rect">
            <a:avLst/>
          </a:prstGeom>
          <a:noFill/>
          <a:ln/>
        </p:spPr>
        <p:txBody>
          <a:bodyPr wrap="square" lIns="0" tIns="0" rIns="0" bIns="0" rtlCol="0" anchor="ctr"/>
          <a:lstStyle/>
          <a:p>
            <a:pPr marL="0" indent="0">
              <a:buNone/>
            </a:pPr>
            <a:r>
              <a:rPr lang="en-US" sz="1400" b="1" dirty="0">
                <a:solidFill>
                  <a:srgbClr val="1B2541"/>
                </a:solidFill>
                <a:latin typeface="Georgia" pitchFamily="34" charset="0"/>
                <a:ea typeface="Georgia" pitchFamily="34" charset="-122"/>
                <a:cs typeface="Georgia" pitchFamily="34" charset="-120"/>
              </a:rPr>
              <a:t>Social Learning Theory</a:t>
            </a:r>
            <a:endParaRPr lang="en-US" sz="1400" dirty="0"/>
          </a:p>
        </p:txBody>
      </p:sp>
      <p:sp>
        <p:nvSpPr>
          <p:cNvPr id="7" name="Text 5"/>
          <p:cNvSpPr/>
          <p:nvPr/>
        </p:nvSpPr>
        <p:spPr>
          <a:xfrm>
            <a:off x="3749040" y="1719072"/>
            <a:ext cx="1828800" cy="320040"/>
          </a:xfrm>
          <a:prstGeom prst="rect">
            <a:avLst/>
          </a:prstGeom>
          <a:noFill/>
          <a:ln/>
        </p:spPr>
        <p:txBody>
          <a:bodyPr wrap="square" lIns="0" tIns="0" rIns="0" bIns="0" rtlCol="0" anchor="ctr"/>
          <a:lstStyle/>
          <a:p>
            <a:pPr marL="0" indent="0">
              <a:buNone/>
            </a:pPr>
            <a:r>
              <a:rPr lang="en-US" sz="1100" i="1" dirty="0">
                <a:solidFill>
                  <a:srgbClr val="3B82F6"/>
                </a:solidFill>
                <a:latin typeface="Calibri" pitchFamily="34" charset="0"/>
                <a:ea typeface="Calibri" pitchFamily="34" charset="-122"/>
                <a:cs typeface="Calibri" pitchFamily="34" charset="-120"/>
              </a:rPr>
              <a:t>Tittle et al., 2012</a:t>
            </a:r>
            <a:endParaRPr lang="en-US" sz="1100" dirty="0"/>
          </a:p>
        </p:txBody>
      </p:sp>
      <p:sp>
        <p:nvSpPr>
          <p:cNvPr id="8" name="Text 6"/>
          <p:cNvSpPr/>
          <p:nvPr/>
        </p:nvSpPr>
        <p:spPr>
          <a:xfrm>
            <a:off x="960120" y="2057400"/>
            <a:ext cx="7315200" cy="457200"/>
          </a:xfrm>
          <a:prstGeom prst="rect">
            <a:avLst/>
          </a:prstGeom>
          <a:noFill/>
          <a:ln/>
        </p:spPr>
        <p:txBody>
          <a:bodyPr wrap="square" lIns="0" tIns="0" rIns="0" bIns="0" rtlCol="0" anchor="ctr"/>
          <a:lstStyle/>
          <a:p>
            <a:pPr marL="0" indent="0">
              <a:lnSpc>
                <a:spcPct val="130000"/>
              </a:lnSpc>
              <a:buNone/>
            </a:pPr>
            <a:r>
              <a:rPr lang="en-US" sz="1150" dirty="0">
                <a:solidFill>
                  <a:srgbClr val="1E293B"/>
                </a:solidFill>
                <a:latin typeface="Calibri" pitchFamily="34" charset="0"/>
                <a:ea typeface="Calibri" pitchFamily="34" charset="-122"/>
                <a:cs typeface="Calibri" pitchFamily="34" charset="-120"/>
              </a:rPr>
              <a:t>Criminal behaviour is learned through social interactions and reinforcement. Social media amplifies this by providing constant exposure to gang-related norms and peer validation.</a:t>
            </a:r>
            <a:endParaRPr lang="en-US" sz="1150" dirty="0"/>
          </a:p>
        </p:txBody>
      </p:sp>
      <p:sp>
        <p:nvSpPr>
          <p:cNvPr id="9" name="Shape 7"/>
          <p:cNvSpPr/>
          <p:nvPr/>
        </p:nvSpPr>
        <p:spPr>
          <a:xfrm>
            <a:off x="640080" y="2743200"/>
            <a:ext cx="7863840" cy="914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640080" y="2743200"/>
            <a:ext cx="73152" cy="914400"/>
          </a:xfrm>
          <a:prstGeom prst="rect">
            <a:avLst/>
          </a:prstGeom>
          <a:solidFill>
            <a:srgbClr val="3B82F6"/>
          </a:solidFill>
          <a:ln/>
        </p:spPr>
        <p:txBody>
          <a:bodyPr/>
          <a:lstStyle/>
          <a:p>
            <a:endParaRPr lang="en-US"/>
          </a:p>
        </p:txBody>
      </p:sp>
      <p:sp>
        <p:nvSpPr>
          <p:cNvPr id="11" name="Text 9"/>
          <p:cNvSpPr/>
          <p:nvPr/>
        </p:nvSpPr>
        <p:spPr>
          <a:xfrm>
            <a:off x="960120" y="2816352"/>
            <a:ext cx="2743200" cy="320040"/>
          </a:xfrm>
          <a:prstGeom prst="rect">
            <a:avLst/>
          </a:prstGeom>
          <a:noFill/>
          <a:ln/>
        </p:spPr>
        <p:txBody>
          <a:bodyPr wrap="square" lIns="0" tIns="0" rIns="0" bIns="0" rtlCol="0" anchor="ctr"/>
          <a:lstStyle/>
          <a:p>
            <a:pPr marL="0" indent="0">
              <a:buNone/>
            </a:pPr>
            <a:r>
              <a:rPr lang="en-US" sz="1400" b="1" dirty="0">
                <a:solidFill>
                  <a:srgbClr val="1B2541"/>
                </a:solidFill>
                <a:latin typeface="Georgia" pitchFamily="34" charset="0"/>
                <a:ea typeface="Georgia" pitchFamily="34" charset="-122"/>
                <a:cs typeface="Georgia" pitchFamily="34" charset="-120"/>
              </a:rPr>
              <a:t>Routine Activity Theory</a:t>
            </a:r>
            <a:endParaRPr lang="en-US" sz="1400" dirty="0"/>
          </a:p>
        </p:txBody>
      </p:sp>
      <p:sp>
        <p:nvSpPr>
          <p:cNvPr id="12" name="Text 10"/>
          <p:cNvSpPr/>
          <p:nvPr/>
        </p:nvSpPr>
        <p:spPr>
          <a:xfrm>
            <a:off x="3749040" y="2816352"/>
            <a:ext cx="1828800" cy="320040"/>
          </a:xfrm>
          <a:prstGeom prst="rect">
            <a:avLst/>
          </a:prstGeom>
          <a:noFill/>
          <a:ln/>
        </p:spPr>
        <p:txBody>
          <a:bodyPr wrap="square" lIns="0" tIns="0" rIns="0" bIns="0" rtlCol="0" anchor="ctr"/>
          <a:lstStyle/>
          <a:p>
            <a:pPr marL="0" indent="0">
              <a:buNone/>
            </a:pPr>
            <a:r>
              <a:rPr lang="en-US" sz="1100" i="1" dirty="0">
                <a:solidFill>
                  <a:srgbClr val="3B82F6"/>
                </a:solidFill>
                <a:latin typeface="Calibri" pitchFamily="34" charset="0"/>
                <a:ea typeface="Calibri" pitchFamily="34" charset="-122"/>
                <a:cs typeface="Calibri" pitchFamily="34" charset="-120"/>
              </a:rPr>
              <a:t>Cohen &amp; Felson, 1979</a:t>
            </a:r>
            <a:endParaRPr lang="en-US" sz="1100" dirty="0"/>
          </a:p>
        </p:txBody>
      </p:sp>
      <p:sp>
        <p:nvSpPr>
          <p:cNvPr id="13" name="Text 11"/>
          <p:cNvSpPr/>
          <p:nvPr/>
        </p:nvSpPr>
        <p:spPr>
          <a:xfrm>
            <a:off x="960120" y="3154680"/>
            <a:ext cx="7315200" cy="457200"/>
          </a:xfrm>
          <a:prstGeom prst="rect">
            <a:avLst/>
          </a:prstGeom>
          <a:noFill/>
          <a:ln/>
        </p:spPr>
        <p:txBody>
          <a:bodyPr wrap="square" lIns="0" tIns="0" rIns="0" bIns="0" rtlCol="0" anchor="ctr"/>
          <a:lstStyle/>
          <a:p>
            <a:pPr marL="0" indent="0">
              <a:lnSpc>
                <a:spcPct val="130000"/>
              </a:lnSpc>
              <a:buNone/>
            </a:pPr>
            <a:r>
              <a:rPr lang="en-US" sz="1150" dirty="0">
                <a:solidFill>
                  <a:srgbClr val="1E293B"/>
                </a:solidFill>
                <a:latin typeface="Calibri" pitchFamily="34" charset="0"/>
                <a:ea typeface="Calibri" pitchFamily="34" charset="-122"/>
                <a:cs typeface="Calibri" pitchFamily="34" charset="-120"/>
              </a:rPr>
              <a:t>Crime occurs when a motivated offender, suitable target, and absence of guardianship converge. Online platforms create new digital spaces where these conditions are met.</a:t>
            </a:r>
            <a:endParaRPr lang="en-US" sz="1150" dirty="0"/>
          </a:p>
        </p:txBody>
      </p:sp>
      <p:sp>
        <p:nvSpPr>
          <p:cNvPr id="14" name="Shape 12"/>
          <p:cNvSpPr/>
          <p:nvPr/>
        </p:nvSpPr>
        <p:spPr>
          <a:xfrm>
            <a:off x="640080" y="3840480"/>
            <a:ext cx="7863840" cy="914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5" name="Shape 13"/>
          <p:cNvSpPr/>
          <p:nvPr/>
        </p:nvSpPr>
        <p:spPr>
          <a:xfrm>
            <a:off x="640080" y="3840480"/>
            <a:ext cx="73152" cy="914400"/>
          </a:xfrm>
          <a:prstGeom prst="rect">
            <a:avLst/>
          </a:prstGeom>
          <a:solidFill>
            <a:srgbClr val="3B82F6"/>
          </a:solidFill>
          <a:ln/>
        </p:spPr>
        <p:txBody>
          <a:bodyPr/>
          <a:lstStyle/>
          <a:p>
            <a:endParaRPr lang="en-US"/>
          </a:p>
        </p:txBody>
      </p:sp>
      <p:sp>
        <p:nvSpPr>
          <p:cNvPr id="16" name="Text 14"/>
          <p:cNvSpPr/>
          <p:nvPr/>
        </p:nvSpPr>
        <p:spPr>
          <a:xfrm>
            <a:off x="960120" y="3913632"/>
            <a:ext cx="2743200" cy="320040"/>
          </a:xfrm>
          <a:prstGeom prst="rect">
            <a:avLst/>
          </a:prstGeom>
          <a:noFill/>
          <a:ln/>
        </p:spPr>
        <p:txBody>
          <a:bodyPr wrap="square" lIns="0" tIns="0" rIns="0" bIns="0" rtlCol="0" anchor="ctr"/>
          <a:lstStyle/>
          <a:p>
            <a:pPr marL="0" indent="0">
              <a:buNone/>
            </a:pPr>
            <a:r>
              <a:rPr lang="en-US" sz="1400" b="1" dirty="0">
                <a:solidFill>
                  <a:srgbClr val="1B2541"/>
                </a:solidFill>
                <a:latin typeface="Georgia" pitchFamily="34" charset="0"/>
                <a:ea typeface="Georgia" pitchFamily="34" charset="-122"/>
                <a:cs typeface="Georgia" pitchFamily="34" charset="-120"/>
              </a:rPr>
              <a:t>Strain Theory (Anomie)</a:t>
            </a:r>
            <a:endParaRPr lang="en-US" sz="1400" dirty="0"/>
          </a:p>
        </p:txBody>
      </p:sp>
      <p:sp>
        <p:nvSpPr>
          <p:cNvPr id="17" name="Text 15"/>
          <p:cNvSpPr/>
          <p:nvPr/>
        </p:nvSpPr>
        <p:spPr>
          <a:xfrm>
            <a:off x="3749040" y="3913632"/>
            <a:ext cx="1828800" cy="320040"/>
          </a:xfrm>
          <a:prstGeom prst="rect">
            <a:avLst/>
          </a:prstGeom>
          <a:noFill/>
          <a:ln/>
        </p:spPr>
        <p:txBody>
          <a:bodyPr wrap="square" lIns="0" tIns="0" rIns="0" bIns="0" rtlCol="0" anchor="ctr"/>
          <a:lstStyle/>
          <a:p>
            <a:pPr marL="0" indent="0">
              <a:buNone/>
            </a:pPr>
            <a:r>
              <a:rPr lang="en-US" sz="1100" i="1" dirty="0">
                <a:solidFill>
                  <a:srgbClr val="3B82F6"/>
                </a:solidFill>
                <a:latin typeface="Calibri" pitchFamily="34" charset="0"/>
                <a:ea typeface="Calibri" pitchFamily="34" charset="-122"/>
                <a:cs typeface="Calibri" pitchFamily="34" charset="-120"/>
              </a:rPr>
              <a:t>Merton, 1938</a:t>
            </a:r>
            <a:endParaRPr lang="en-US" sz="1100" dirty="0"/>
          </a:p>
        </p:txBody>
      </p:sp>
      <p:sp>
        <p:nvSpPr>
          <p:cNvPr id="18" name="Text 16"/>
          <p:cNvSpPr/>
          <p:nvPr/>
        </p:nvSpPr>
        <p:spPr>
          <a:xfrm>
            <a:off x="960120" y="4251960"/>
            <a:ext cx="7315200" cy="457200"/>
          </a:xfrm>
          <a:prstGeom prst="rect">
            <a:avLst/>
          </a:prstGeom>
          <a:noFill/>
          <a:ln/>
        </p:spPr>
        <p:txBody>
          <a:bodyPr wrap="square" lIns="0" tIns="0" rIns="0" bIns="0" rtlCol="0" anchor="ctr"/>
          <a:lstStyle/>
          <a:p>
            <a:pPr marL="0" indent="0">
              <a:lnSpc>
                <a:spcPct val="130000"/>
              </a:lnSpc>
              <a:buNone/>
            </a:pPr>
            <a:r>
              <a:rPr lang="en-US" sz="1150" dirty="0">
                <a:solidFill>
                  <a:srgbClr val="1E293B"/>
                </a:solidFill>
                <a:latin typeface="Calibri" pitchFamily="34" charset="0"/>
                <a:ea typeface="Calibri" pitchFamily="34" charset="-122"/>
                <a:cs typeface="Calibri" pitchFamily="34" charset="-120"/>
              </a:rPr>
              <a:t>Individuals in disadvantaged socio-economic positions may turn to deviant means when legitimate opportunities are blocked. Social media offers alternative pathways to status through gang affiliation.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548640"/>
          </a:xfrm>
          <a:prstGeom prst="rect">
            <a:avLst/>
          </a:prstGeom>
          <a:noFill/>
          <a:ln/>
        </p:spPr>
        <p:txBody>
          <a:bodyPr wrap="square" lIns="0" tIns="0" rIns="0" bIns="0" rtlCol="0" anchor="ctr"/>
          <a:lstStyle/>
          <a:p>
            <a:pPr marL="0" indent="0">
              <a:buNone/>
            </a:pPr>
            <a:r>
              <a:rPr lang="en-US" sz="2800" b="1" dirty="0">
                <a:solidFill>
                  <a:srgbClr val="1B2541"/>
                </a:solidFill>
                <a:latin typeface="Georgia" pitchFamily="34" charset="0"/>
                <a:ea typeface="Georgia" pitchFamily="34" charset="-122"/>
                <a:cs typeface="Georgia" pitchFamily="34" charset="-120"/>
              </a:rPr>
              <a:t>Social Media &amp; Gang Culture</a:t>
            </a:r>
            <a:endParaRPr lang="en-US" sz="2800" dirty="0"/>
          </a:p>
        </p:txBody>
      </p:sp>
      <p:sp>
        <p:nvSpPr>
          <p:cNvPr id="3" name="Shape 1"/>
          <p:cNvSpPr/>
          <p:nvPr/>
        </p:nvSpPr>
        <p:spPr>
          <a:xfrm>
            <a:off x="640080" y="1188720"/>
            <a:ext cx="3840480" cy="3566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914400" y="1417320"/>
            <a:ext cx="411480" cy="411480"/>
          </a:xfrm>
          <a:prstGeom prst="rect">
            <a:avLst/>
          </a:prstGeom>
        </p:spPr>
      </p:pic>
      <p:sp>
        <p:nvSpPr>
          <p:cNvPr id="5" name="Text 2"/>
          <p:cNvSpPr/>
          <p:nvPr/>
        </p:nvSpPr>
        <p:spPr>
          <a:xfrm>
            <a:off x="1417320" y="1417320"/>
            <a:ext cx="2834640" cy="411480"/>
          </a:xfrm>
          <a:prstGeom prst="rect">
            <a:avLst/>
          </a:prstGeom>
          <a:noFill/>
          <a:ln/>
        </p:spPr>
        <p:txBody>
          <a:bodyPr wrap="square" lIns="0" tIns="0" rIns="0" bIns="0" rtlCol="0" anchor="ctr"/>
          <a:lstStyle/>
          <a:p>
            <a:pPr marL="0" indent="0">
              <a:buNone/>
            </a:pPr>
            <a:r>
              <a:rPr lang="en-US" sz="1500" b="1" dirty="0">
                <a:solidFill>
                  <a:srgbClr val="1B2541"/>
                </a:solidFill>
                <a:latin typeface="Georgia" pitchFamily="34" charset="0"/>
                <a:ea typeface="Georgia" pitchFamily="34" charset="-122"/>
                <a:cs typeface="Georgia" pitchFamily="34" charset="-120"/>
              </a:rPr>
              <a:t>Gang Activity Online</a:t>
            </a:r>
            <a:endParaRPr lang="en-US" sz="1500" dirty="0"/>
          </a:p>
        </p:txBody>
      </p:sp>
      <p:sp>
        <p:nvSpPr>
          <p:cNvPr id="6" name="Text 3"/>
          <p:cNvSpPr/>
          <p:nvPr/>
        </p:nvSpPr>
        <p:spPr>
          <a:xfrm>
            <a:off x="914400" y="1965960"/>
            <a:ext cx="3291840" cy="2468880"/>
          </a:xfrm>
          <a:prstGeom prst="rect">
            <a:avLst/>
          </a:prstGeom>
          <a:noFill/>
          <a:ln/>
        </p:spPr>
        <p:txBody>
          <a:bodyPr wrap="square" lIns="0" tIns="0" rIns="0" bIns="0" rtlCol="0" anchor="t"/>
          <a:lstStyle/>
          <a:p>
            <a:pPr marL="0" indent="0">
              <a:lnSpc>
                <a:spcPct val="135000"/>
              </a:lnSpc>
              <a:buNone/>
            </a:pPr>
            <a:r>
              <a:rPr lang="en-US" sz="1200" dirty="0">
                <a:solidFill>
                  <a:srgbClr val="1E293B"/>
                </a:solidFill>
                <a:latin typeface="Calibri" pitchFamily="34" charset="0"/>
                <a:ea typeface="Calibri" pitchFamily="34" charset="-122"/>
                <a:cs typeface="Calibri" pitchFamily="34" charset="-120"/>
              </a:rPr>
              <a:t>Storrod &amp; Densley (2017) found that street gangs use social media for both expressive purposes (building identity, reputation) and instrumental activities (coordinating criminal operations, intimidation).</a:t>
            </a:r>
            <a:endParaRPr lang="en-US" sz="1200" dirty="0"/>
          </a:p>
          <a:p>
            <a:pPr marL="0" indent="0">
              <a:buNone/>
            </a:pPr>
            <a:endParaRPr lang="en-US" sz="1200" dirty="0"/>
          </a:p>
          <a:p>
            <a:pPr marL="0" indent="0">
              <a:lnSpc>
                <a:spcPct val="135000"/>
              </a:lnSpc>
              <a:buNone/>
            </a:pPr>
            <a:r>
              <a:rPr lang="en-US" sz="1200" dirty="0">
                <a:solidFill>
                  <a:srgbClr val="1E293B"/>
                </a:solidFill>
                <a:latin typeface="Calibri" pitchFamily="34" charset="0"/>
                <a:ea typeface="Calibri" pitchFamily="34" charset="-122"/>
                <a:cs typeface="Calibri" pitchFamily="34" charset="-120"/>
              </a:rPr>
              <a:t>Patton et al. (2016) showed that violence outreach workers in Chicago identified Facebook and Twitter as central to escalation of gang conflicts, blurring the line between online posturing and real-world violence.</a:t>
            </a:r>
            <a:endParaRPr lang="en-US" sz="1200" dirty="0"/>
          </a:p>
        </p:txBody>
      </p:sp>
      <p:sp>
        <p:nvSpPr>
          <p:cNvPr id="7" name="Shape 4"/>
          <p:cNvSpPr/>
          <p:nvPr/>
        </p:nvSpPr>
        <p:spPr>
          <a:xfrm>
            <a:off x="4754880" y="1188720"/>
            <a:ext cx="3840480" cy="3566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8" name="Image 1" descr="preencoded.png"/>
          <p:cNvPicPr>
            <a:picLocks noChangeAspect="1"/>
          </p:cNvPicPr>
          <p:nvPr/>
        </p:nvPicPr>
        <p:blipFill>
          <a:blip r:embed="rId4"/>
          <a:stretch>
            <a:fillRect/>
          </a:stretch>
        </p:blipFill>
        <p:spPr>
          <a:xfrm>
            <a:off x="5029200" y="1417320"/>
            <a:ext cx="411480" cy="411480"/>
          </a:xfrm>
          <a:prstGeom prst="rect">
            <a:avLst/>
          </a:prstGeom>
        </p:spPr>
      </p:pic>
      <p:sp>
        <p:nvSpPr>
          <p:cNvPr id="9" name="Text 5"/>
          <p:cNvSpPr/>
          <p:nvPr/>
        </p:nvSpPr>
        <p:spPr>
          <a:xfrm>
            <a:off x="5532120" y="1417320"/>
            <a:ext cx="2834640" cy="411480"/>
          </a:xfrm>
          <a:prstGeom prst="rect">
            <a:avLst/>
          </a:prstGeom>
          <a:noFill/>
          <a:ln/>
        </p:spPr>
        <p:txBody>
          <a:bodyPr wrap="square" lIns="0" tIns="0" rIns="0" bIns="0" rtlCol="0" anchor="ctr"/>
          <a:lstStyle/>
          <a:p>
            <a:pPr marL="0" indent="0">
              <a:buNone/>
            </a:pPr>
            <a:r>
              <a:rPr lang="en-US" sz="1500" b="1" dirty="0">
                <a:solidFill>
                  <a:srgbClr val="1B2541"/>
                </a:solidFill>
                <a:latin typeface="Georgia" pitchFamily="34" charset="0"/>
                <a:ea typeface="Georgia" pitchFamily="34" charset="-122"/>
                <a:cs typeface="Georgia" pitchFamily="34" charset="-120"/>
              </a:rPr>
              <a:t>Contrasting Views</a:t>
            </a:r>
            <a:endParaRPr lang="en-US" sz="1500" dirty="0"/>
          </a:p>
        </p:txBody>
      </p:sp>
      <p:sp>
        <p:nvSpPr>
          <p:cNvPr id="10" name="Text 6"/>
          <p:cNvSpPr/>
          <p:nvPr/>
        </p:nvSpPr>
        <p:spPr>
          <a:xfrm>
            <a:off x="5029200" y="1965960"/>
            <a:ext cx="3291840" cy="2468880"/>
          </a:xfrm>
          <a:prstGeom prst="rect">
            <a:avLst/>
          </a:prstGeom>
          <a:noFill/>
          <a:ln/>
        </p:spPr>
        <p:txBody>
          <a:bodyPr wrap="square" lIns="0" tIns="0" rIns="0" bIns="0" rtlCol="0" anchor="t"/>
          <a:lstStyle/>
          <a:p>
            <a:pPr marL="0" indent="0">
              <a:lnSpc>
                <a:spcPct val="135000"/>
              </a:lnSpc>
              <a:buNone/>
            </a:pPr>
            <a:r>
              <a:rPr lang="en-US" sz="1200" dirty="0">
                <a:solidFill>
                  <a:srgbClr val="1E293B"/>
                </a:solidFill>
                <a:latin typeface="Calibri" pitchFamily="34" charset="0"/>
                <a:ea typeface="Calibri" pitchFamily="34" charset="-122"/>
                <a:cs typeface="Calibri" pitchFamily="34" charset="-120"/>
              </a:rPr>
              <a:t>Pyrooz et al. (2014) argue that gang ties can weaken over time. Social media may not solely deepen gang involvement, it can also expose individuals to desistance narratives and exit pathways.</a:t>
            </a:r>
            <a:endParaRPr lang="en-US" sz="1200" dirty="0"/>
          </a:p>
          <a:p>
            <a:pPr marL="0" indent="0">
              <a:buNone/>
            </a:pPr>
            <a:endParaRPr lang="en-US" sz="1200" dirty="0"/>
          </a:p>
          <a:p>
            <a:pPr marL="0" indent="0">
              <a:lnSpc>
                <a:spcPct val="135000"/>
              </a:lnSpc>
              <a:buNone/>
            </a:pPr>
            <a:r>
              <a:rPr lang="en-US" sz="1200" dirty="0">
                <a:solidFill>
                  <a:srgbClr val="1E293B"/>
                </a:solidFill>
                <a:latin typeface="Calibri" pitchFamily="34" charset="0"/>
                <a:ea typeface="Calibri" pitchFamily="34" charset="-122"/>
                <a:cs typeface="Calibri" pitchFamily="34" charset="-120"/>
              </a:rPr>
              <a:t>This suggests the relationship between social media and gang culture is not one-directional but shaped by individual agency and context.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548640"/>
          </a:xfrm>
          <a:prstGeom prst="rect">
            <a:avLst/>
          </a:prstGeom>
          <a:noFill/>
          <a:ln/>
        </p:spPr>
        <p:txBody>
          <a:bodyPr wrap="square" lIns="0" tIns="0" rIns="0" bIns="0" rtlCol="0" anchor="ctr"/>
          <a:lstStyle/>
          <a:p>
            <a:pPr marL="0" indent="0">
              <a:buNone/>
            </a:pPr>
            <a:r>
              <a:rPr lang="en-US" sz="2800" b="1" dirty="0">
                <a:solidFill>
                  <a:srgbClr val="1B2541"/>
                </a:solidFill>
                <a:latin typeface="Georgia" pitchFamily="34" charset="0"/>
                <a:ea typeface="Georgia" pitchFamily="34" charset="-122"/>
                <a:cs typeface="Georgia" pitchFamily="34" charset="-120"/>
              </a:rPr>
              <a:t>Algorithms &amp; Radicalisation</a:t>
            </a:r>
            <a:endParaRPr lang="en-US" sz="2800" dirty="0"/>
          </a:p>
        </p:txBody>
      </p:sp>
      <p:sp>
        <p:nvSpPr>
          <p:cNvPr id="3" name="Shape 1"/>
          <p:cNvSpPr/>
          <p:nvPr/>
        </p:nvSpPr>
        <p:spPr>
          <a:xfrm>
            <a:off x="640080" y="1188720"/>
            <a:ext cx="512064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Text 2"/>
          <p:cNvSpPr/>
          <p:nvPr/>
        </p:nvSpPr>
        <p:spPr>
          <a:xfrm>
            <a:off x="914400" y="1371600"/>
            <a:ext cx="4572000" cy="3108960"/>
          </a:xfrm>
          <a:prstGeom prst="rect">
            <a:avLst/>
          </a:prstGeom>
          <a:noFill/>
          <a:ln/>
        </p:spPr>
        <p:txBody>
          <a:bodyPr wrap="square" lIns="0" tIns="0" rIns="0" bIns="0" rtlCol="0" anchor="t"/>
          <a:lstStyle/>
          <a:p>
            <a:pPr marL="0" indent="0">
              <a:buNone/>
            </a:pPr>
            <a:r>
              <a:rPr lang="en-US" sz="1300" b="1" dirty="0">
                <a:solidFill>
                  <a:srgbClr val="3B82F6"/>
                </a:solidFill>
                <a:latin typeface="Calibri" pitchFamily="34" charset="0"/>
                <a:ea typeface="Calibri" pitchFamily="34" charset="-122"/>
                <a:cs typeface="Calibri" pitchFamily="34" charset="-120"/>
              </a:rPr>
              <a:t>Ribeiro et al. (2020)</a:t>
            </a:r>
            <a:endParaRPr lang="en-US" sz="1300" dirty="0"/>
          </a:p>
          <a:p>
            <a:pPr marL="0" indent="0">
              <a:lnSpc>
                <a:spcPct val="135000"/>
              </a:lnSpc>
              <a:buNone/>
            </a:pPr>
            <a:r>
              <a:rPr lang="en-US" sz="1200" dirty="0">
                <a:solidFill>
                  <a:srgbClr val="1E293B"/>
                </a:solidFill>
                <a:latin typeface="Calibri" pitchFamily="34" charset="0"/>
                <a:ea typeface="Calibri" pitchFamily="34" charset="-122"/>
                <a:cs typeface="Calibri" pitchFamily="34" charset="-120"/>
              </a:rPr>
              <a:t>Audited YouTube's recommendation algorithm and found that users who engaged with mildly radical content were systematically led towards more extreme material, creating a 'radicalisation pipeline.'</a:t>
            </a:r>
            <a:endParaRPr lang="en-US" sz="1300" dirty="0"/>
          </a:p>
          <a:p>
            <a:pPr marL="0" indent="0">
              <a:buNone/>
            </a:pPr>
            <a:endParaRPr lang="en-US" sz="1300" dirty="0"/>
          </a:p>
          <a:p>
            <a:pPr marL="0" indent="0">
              <a:buNone/>
            </a:pPr>
            <a:r>
              <a:rPr lang="en-US" sz="1300" b="1" dirty="0">
                <a:solidFill>
                  <a:srgbClr val="3B82F6"/>
                </a:solidFill>
                <a:latin typeface="Calibri" pitchFamily="34" charset="0"/>
                <a:ea typeface="Calibri" pitchFamily="34" charset="-122"/>
                <a:cs typeface="Calibri" pitchFamily="34" charset="-120"/>
              </a:rPr>
              <a:t>Wolfowicz et al. (2022)</a:t>
            </a:r>
            <a:endParaRPr lang="en-US" sz="1300" dirty="0"/>
          </a:p>
          <a:p>
            <a:pPr marL="0" indent="0">
              <a:lnSpc>
                <a:spcPct val="135000"/>
              </a:lnSpc>
              <a:buNone/>
            </a:pPr>
            <a:r>
              <a:rPr lang="en-US" sz="1200" dirty="0">
                <a:solidFill>
                  <a:srgbClr val="1E293B"/>
                </a:solidFill>
                <a:latin typeface="Calibri" pitchFamily="34" charset="0"/>
                <a:ea typeface="Calibri" pitchFamily="34" charset="-122"/>
                <a:cs typeface="Calibri" pitchFamily="34" charset="-120"/>
              </a:rPr>
              <a:t>A systematic review confirming that media exposure, particularly social media, has a significant effect on radicalisation outcomes, though the magnitude varies by media type and individual risk factors.</a:t>
            </a:r>
            <a:endParaRPr lang="en-US" sz="1300" dirty="0"/>
          </a:p>
          <a:p>
            <a:pPr marL="0" indent="0">
              <a:buNone/>
            </a:pPr>
            <a:endParaRPr lang="en-US" sz="1300" dirty="0"/>
          </a:p>
          <a:p>
            <a:pPr marL="0" indent="0">
              <a:buNone/>
            </a:pPr>
            <a:r>
              <a:rPr lang="en-US" sz="1300" b="1" dirty="0">
                <a:solidFill>
                  <a:srgbClr val="3B82F6"/>
                </a:solidFill>
                <a:latin typeface="Calibri" pitchFamily="34" charset="0"/>
                <a:ea typeface="Calibri" pitchFamily="34" charset="-122"/>
                <a:cs typeface="Calibri" pitchFamily="34" charset="-120"/>
              </a:rPr>
              <a:t>Schils &amp; Pauwels (2016)</a:t>
            </a:r>
            <a:endParaRPr lang="en-US" sz="1300" dirty="0"/>
          </a:p>
          <a:p>
            <a:pPr marL="0" indent="0">
              <a:lnSpc>
                <a:spcPct val="135000"/>
              </a:lnSpc>
              <a:buNone/>
            </a:pPr>
            <a:r>
              <a:rPr lang="en-US" sz="1200" dirty="0">
                <a:solidFill>
                  <a:srgbClr val="1E293B"/>
                </a:solidFill>
                <a:latin typeface="Calibri" pitchFamily="34" charset="0"/>
                <a:ea typeface="Calibri" pitchFamily="34" charset="-122"/>
                <a:cs typeface="Calibri" pitchFamily="34" charset="-120"/>
              </a:rPr>
              <a:t>Tested social learning against competing theories and found that differential online exposure to extremist content predicts political violence attitudes.</a:t>
            </a:r>
            <a:endParaRPr lang="en-US" sz="1300" dirty="0"/>
          </a:p>
        </p:txBody>
      </p:sp>
      <p:sp>
        <p:nvSpPr>
          <p:cNvPr id="5" name="Shape 3"/>
          <p:cNvSpPr/>
          <p:nvPr/>
        </p:nvSpPr>
        <p:spPr>
          <a:xfrm>
            <a:off x="6035040" y="1188720"/>
            <a:ext cx="2651760" cy="1554480"/>
          </a:xfrm>
          <a:prstGeom prst="rect">
            <a:avLst/>
          </a:prstGeom>
          <a:solidFill>
            <a:srgbClr val="1B2541"/>
          </a:solidFill>
          <a:ln/>
          <a:effectLst>
            <a:outerShdw blurRad="76200" dist="25400" dir="8100000" algn="bl" rotWithShape="0">
              <a:srgbClr val="000000">
                <a:alpha val="12000"/>
              </a:srgbClr>
            </a:outerShdw>
          </a:effectLst>
        </p:spPr>
        <p:txBody>
          <a:bodyPr/>
          <a:lstStyle/>
          <a:p>
            <a:endParaRPr lang="en-US"/>
          </a:p>
        </p:txBody>
      </p:sp>
      <p:sp>
        <p:nvSpPr>
          <p:cNvPr id="6" name="Text 4"/>
          <p:cNvSpPr/>
          <p:nvPr/>
        </p:nvSpPr>
        <p:spPr>
          <a:xfrm>
            <a:off x="6217920" y="1371600"/>
            <a:ext cx="2286000" cy="320040"/>
          </a:xfrm>
          <a:prstGeom prst="rect">
            <a:avLst/>
          </a:prstGeom>
          <a:noFill/>
          <a:ln/>
        </p:spPr>
        <p:txBody>
          <a:bodyPr wrap="square" lIns="0" tIns="0" rIns="0" bIns="0" rtlCol="0" anchor="ctr"/>
          <a:lstStyle/>
          <a:p>
            <a:pPr marL="0" indent="0" algn="ctr">
              <a:buNone/>
            </a:pPr>
            <a:r>
              <a:rPr lang="en-US" sz="1200" b="1" dirty="0">
                <a:solidFill>
                  <a:srgbClr val="60A5FA"/>
                </a:solidFill>
                <a:latin typeface="Calibri" pitchFamily="34" charset="0"/>
                <a:ea typeface="Calibri" pitchFamily="34" charset="-122"/>
                <a:cs typeface="Calibri" pitchFamily="34" charset="-120"/>
              </a:rPr>
              <a:t>Key Insight</a:t>
            </a:r>
            <a:endParaRPr lang="en-US" sz="1200" dirty="0"/>
          </a:p>
        </p:txBody>
      </p:sp>
      <p:sp>
        <p:nvSpPr>
          <p:cNvPr id="7" name="Text 5"/>
          <p:cNvSpPr/>
          <p:nvPr/>
        </p:nvSpPr>
        <p:spPr>
          <a:xfrm>
            <a:off x="6217920" y="1737360"/>
            <a:ext cx="2286000" cy="822960"/>
          </a:xfrm>
          <a:prstGeom prst="rect">
            <a:avLst/>
          </a:prstGeom>
          <a:noFill/>
          <a:ln/>
        </p:spPr>
        <p:txBody>
          <a:bodyPr wrap="square" lIns="0" tIns="0" rIns="0" bIns="0" rtlCol="0" anchor="ctr"/>
          <a:lstStyle/>
          <a:p>
            <a:pPr marL="0" indent="0" algn="ctr">
              <a:lnSpc>
                <a:spcPct val="130000"/>
              </a:lnSpc>
              <a:buNone/>
            </a:pPr>
            <a:r>
              <a:rPr lang="en-US" sz="1300" dirty="0">
                <a:solidFill>
                  <a:srgbClr val="FFFFFF"/>
                </a:solidFill>
                <a:latin typeface="Georgia" pitchFamily="34" charset="0"/>
                <a:ea typeface="Georgia" pitchFamily="34" charset="-122"/>
                <a:cs typeface="Georgia" pitchFamily="34" charset="-120"/>
              </a:rPr>
              <a:t>Algorithms create echo chambers that accelerate radicalisation pathways</a:t>
            </a:r>
            <a:endParaRPr lang="en-US" sz="1300" dirty="0"/>
          </a:p>
        </p:txBody>
      </p:sp>
      <p:sp>
        <p:nvSpPr>
          <p:cNvPr id="8" name="Shape 6"/>
          <p:cNvSpPr/>
          <p:nvPr/>
        </p:nvSpPr>
        <p:spPr>
          <a:xfrm>
            <a:off x="6035040" y="3017520"/>
            <a:ext cx="265176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7"/>
          <p:cNvSpPr/>
          <p:nvPr/>
        </p:nvSpPr>
        <p:spPr>
          <a:xfrm>
            <a:off x="6035040" y="3017520"/>
            <a:ext cx="2651760" cy="73152"/>
          </a:xfrm>
          <a:prstGeom prst="rect">
            <a:avLst/>
          </a:prstGeom>
          <a:solidFill>
            <a:srgbClr val="F59E0B"/>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7086600" y="3246120"/>
            <a:ext cx="457200" cy="457200"/>
          </a:xfrm>
          <a:prstGeom prst="rect">
            <a:avLst/>
          </a:prstGeom>
        </p:spPr>
      </p:pic>
      <p:sp>
        <p:nvSpPr>
          <p:cNvPr id="11" name="Text 8"/>
          <p:cNvSpPr/>
          <p:nvPr/>
        </p:nvSpPr>
        <p:spPr>
          <a:xfrm>
            <a:off x="6217920" y="3794760"/>
            <a:ext cx="2286000" cy="731520"/>
          </a:xfrm>
          <a:prstGeom prst="rect">
            <a:avLst/>
          </a:prstGeom>
          <a:noFill/>
          <a:ln/>
        </p:spPr>
        <p:txBody>
          <a:bodyPr wrap="square" lIns="0" tIns="0" rIns="0" bIns="0" rtlCol="0" anchor="ctr"/>
          <a:lstStyle/>
          <a:p>
            <a:pPr marL="0" indent="0" algn="ctr">
              <a:lnSpc>
                <a:spcPct val="130000"/>
              </a:lnSpc>
              <a:buNone/>
            </a:pPr>
            <a:r>
              <a:rPr lang="en-US" sz="1050" dirty="0">
                <a:solidFill>
                  <a:srgbClr val="1E293B"/>
                </a:solidFill>
                <a:latin typeface="Calibri" pitchFamily="34" charset="0"/>
                <a:ea typeface="Calibri" pitchFamily="34" charset="-122"/>
                <a:cs typeface="Calibri" pitchFamily="34" charset="-120"/>
              </a:rPr>
              <a:t>Not all exposure leads to radicalization: individual vulnerability and socio-economic context mediate outcomes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548640"/>
          </a:xfrm>
          <a:prstGeom prst="rect">
            <a:avLst/>
          </a:prstGeom>
          <a:noFill/>
          <a:ln/>
        </p:spPr>
        <p:txBody>
          <a:bodyPr wrap="square" lIns="0" tIns="0" rIns="0" bIns="0" rtlCol="0" anchor="ctr"/>
          <a:lstStyle/>
          <a:p>
            <a:pPr marL="0" indent="0">
              <a:buNone/>
            </a:pPr>
            <a:r>
              <a:rPr lang="en-US" sz="2800" b="1" dirty="0">
                <a:solidFill>
                  <a:srgbClr val="1B2541"/>
                </a:solidFill>
                <a:latin typeface="Georgia" pitchFamily="34" charset="0"/>
                <a:ea typeface="Georgia" pitchFamily="34" charset="-122"/>
                <a:cs typeface="Georgia" pitchFamily="34" charset="-120"/>
              </a:rPr>
              <a:t>Socio-Economics &amp; Encrypted Platforms</a:t>
            </a:r>
            <a:endParaRPr lang="en-US" sz="2800" dirty="0"/>
          </a:p>
        </p:txBody>
      </p:sp>
      <p:sp>
        <p:nvSpPr>
          <p:cNvPr id="3" name="Shape 1"/>
          <p:cNvSpPr/>
          <p:nvPr/>
        </p:nvSpPr>
        <p:spPr>
          <a:xfrm>
            <a:off x="640080" y="1188720"/>
            <a:ext cx="3840480" cy="3566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914400" y="1417320"/>
            <a:ext cx="411480" cy="411480"/>
          </a:xfrm>
          <a:prstGeom prst="rect">
            <a:avLst/>
          </a:prstGeom>
        </p:spPr>
      </p:pic>
      <p:sp>
        <p:nvSpPr>
          <p:cNvPr id="5" name="Text 2"/>
          <p:cNvSpPr/>
          <p:nvPr/>
        </p:nvSpPr>
        <p:spPr>
          <a:xfrm>
            <a:off x="1417320" y="1417320"/>
            <a:ext cx="2834640" cy="411480"/>
          </a:xfrm>
          <a:prstGeom prst="rect">
            <a:avLst/>
          </a:prstGeom>
          <a:noFill/>
          <a:ln/>
        </p:spPr>
        <p:txBody>
          <a:bodyPr wrap="square" lIns="0" tIns="0" rIns="0" bIns="0" rtlCol="0" anchor="ctr"/>
          <a:lstStyle/>
          <a:p>
            <a:pPr marL="0" indent="0">
              <a:buNone/>
            </a:pPr>
            <a:r>
              <a:rPr lang="en-US" sz="1400" b="1" dirty="0">
                <a:solidFill>
                  <a:srgbClr val="1B2541"/>
                </a:solidFill>
                <a:latin typeface="Georgia" pitchFamily="34" charset="0"/>
                <a:ea typeface="Georgia" pitchFamily="34" charset="-122"/>
                <a:cs typeface="Georgia" pitchFamily="34" charset="-120"/>
              </a:rPr>
              <a:t>Socio-Economic Vulnerability</a:t>
            </a:r>
            <a:endParaRPr lang="en-US" sz="1400" dirty="0"/>
          </a:p>
        </p:txBody>
      </p:sp>
      <p:sp>
        <p:nvSpPr>
          <p:cNvPr id="6" name="Text 3"/>
          <p:cNvSpPr/>
          <p:nvPr/>
        </p:nvSpPr>
        <p:spPr>
          <a:xfrm>
            <a:off x="914400" y="1965960"/>
            <a:ext cx="3291840" cy="2468880"/>
          </a:xfrm>
          <a:prstGeom prst="rect">
            <a:avLst/>
          </a:prstGeom>
          <a:noFill/>
          <a:ln/>
        </p:spPr>
        <p:txBody>
          <a:bodyPr wrap="square" lIns="0" tIns="0" rIns="0" bIns="0" rtlCol="0" anchor="t"/>
          <a:lstStyle/>
          <a:p>
            <a:pPr marL="0" indent="0">
              <a:lnSpc>
                <a:spcPct val="135000"/>
              </a:lnSpc>
              <a:buNone/>
            </a:pPr>
            <a:r>
              <a:rPr lang="en-US" sz="1200" dirty="0">
                <a:solidFill>
                  <a:srgbClr val="1E293B"/>
                </a:solidFill>
                <a:latin typeface="Calibri" pitchFamily="34" charset="0"/>
                <a:ea typeface="Calibri" pitchFamily="34" charset="-122"/>
                <a:cs typeface="Calibri" pitchFamily="34" charset="-120"/>
              </a:rPr>
              <a:t>Merton's strain theory (1938) explains that individuals blocked from legitimate means of success may pursue deviant alternatives. Social media offers a route to status through gang-related identity.</a:t>
            </a:r>
            <a:endParaRPr lang="en-US" sz="1200" dirty="0"/>
          </a:p>
          <a:p>
            <a:pPr marL="0" indent="0">
              <a:buNone/>
            </a:pPr>
            <a:endParaRPr lang="en-US" sz="1200" dirty="0"/>
          </a:p>
          <a:p>
            <a:pPr marL="0" indent="0">
              <a:lnSpc>
                <a:spcPct val="135000"/>
              </a:lnSpc>
              <a:buNone/>
            </a:pPr>
            <a:r>
              <a:rPr lang="en-US" sz="1200" dirty="0">
                <a:solidFill>
                  <a:srgbClr val="1E293B"/>
                </a:solidFill>
                <a:latin typeface="Calibri" pitchFamily="34" charset="0"/>
                <a:ea typeface="Calibri" pitchFamily="34" charset="-122"/>
                <a:cs typeface="Calibri" pitchFamily="34" charset="-120"/>
              </a:rPr>
              <a:t>Dowling et al. (2023) highlight that social isolation, marginalisation, and economic deprivation increase susceptibility to internet-facilitated radicalisation.</a:t>
            </a:r>
            <a:endParaRPr lang="en-US" sz="1200" dirty="0"/>
          </a:p>
        </p:txBody>
      </p:sp>
      <p:sp>
        <p:nvSpPr>
          <p:cNvPr id="7" name="Shape 4"/>
          <p:cNvSpPr/>
          <p:nvPr/>
        </p:nvSpPr>
        <p:spPr>
          <a:xfrm>
            <a:off x="4754880" y="1188720"/>
            <a:ext cx="3840480" cy="3566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8" name="Image 1" descr="preencoded.png"/>
          <p:cNvPicPr>
            <a:picLocks noChangeAspect="1"/>
          </p:cNvPicPr>
          <p:nvPr/>
        </p:nvPicPr>
        <p:blipFill>
          <a:blip r:embed="rId4"/>
          <a:stretch>
            <a:fillRect/>
          </a:stretch>
        </p:blipFill>
        <p:spPr>
          <a:xfrm>
            <a:off x="5029200" y="1417320"/>
            <a:ext cx="411480" cy="411480"/>
          </a:xfrm>
          <a:prstGeom prst="rect">
            <a:avLst/>
          </a:prstGeom>
        </p:spPr>
      </p:pic>
      <p:sp>
        <p:nvSpPr>
          <p:cNvPr id="9" name="Text 5"/>
          <p:cNvSpPr/>
          <p:nvPr/>
        </p:nvSpPr>
        <p:spPr>
          <a:xfrm>
            <a:off x="5532120" y="1417320"/>
            <a:ext cx="2834640" cy="411480"/>
          </a:xfrm>
          <a:prstGeom prst="rect">
            <a:avLst/>
          </a:prstGeom>
          <a:noFill/>
          <a:ln/>
        </p:spPr>
        <p:txBody>
          <a:bodyPr wrap="square" lIns="0" tIns="0" rIns="0" bIns="0" rtlCol="0" anchor="ctr"/>
          <a:lstStyle/>
          <a:p>
            <a:pPr marL="0" indent="0">
              <a:buNone/>
            </a:pPr>
            <a:r>
              <a:rPr lang="en-US" sz="1400" b="1" dirty="0">
                <a:solidFill>
                  <a:srgbClr val="1B2541"/>
                </a:solidFill>
                <a:latin typeface="Georgia" pitchFamily="34" charset="0"/>
                <a:ea typeface="Georgia" pitchFamily="34" charset="-122"/>
                <a:cs typeface="Georgia" pitchFamily="34" charset="-120"/>
              </a:rPr>
              <a:t>Encrypted Messaging Apps</a:t>
            </a:r>
            <a:endParaRPr lang="en-US" sz="1400" dirty="0"/>
          </a:p>
        </p:txBody>
      </p:sp>
      <p:sp>
        <p:nvSpPr>
          <p:cNvPr id="10" name="Text 6"/>
          <p:cNvSpPr/>
          <p:nvPr/>
        </p:nvSpPr>
        <p:spPr>
          <a:xfrm>
            <a:off x="5029200" y="1965960"/>
            <a:ext cx="3291840" cy="2468880"/>
          </a:xfrm>
          <a:prstGeom prst="rect">
            <a:avLst/>
          </a:prstGeom>
          <a:noFill/>
          <a:ln/>
        </p:spPr>
        <p:txBody>
          <a:bodyPr wrap="square" lIns="0" tIns="0" rIns="0" bIns="0" rtlCol="0" anchor="t"/>
          <a:lstStyle/>
          <a:p>
            <a:pPr marL="0" indent="0">
              <a:lnSpc>
                <a:spcPct val="135000"/>
              </a:lnSpc>
              <a:buNone/>
            </a:pPr>
            <a:r>
              <a:rPr lang="en-US" sz="1200" dirty="0">
                <a:solidFill>
                  <a:srgbClr val="1E293B"/>
                </a:solidFill>
                <a:latin typeface="Calibri" pitchFamily="34" charset="0"/>
                <a:ea typeface="Calibri" pitchFamily="34" charset="-122"/>
                <a:cs typeface="Calibri" pitchFamily="34" charset="-120"/>
              </a:rPr>
              <a:t>Encrypted platforms (Telegram, Signal, WhatsApp) allow gang networks to operate beyond the reach of traditional surveillance, facilitating recruitment and coordination of criminal activity.</a:t>
            </a:r>
            <a:endParaRPr lang="en-US" sz="1200" dirty="0"/>
          </a:p>
          <a:p>
            <a:pPr marL="0" indent="0">
              <a:buNone/>
            </a:pPr>
            <a:endParaRPr lang="en-US" sz="1200" dirty="0"/>
          </a:p>
          <a:p>
            <a:pPr marL="0" indent="0">
              <a:lnSpc>
                <a:spcPct val="135000"/>
              </a:lnSpc>
              <a:buNone/>
            </a:pPr>
            <a:r>
              <a:rPr lang="en-US" sz="1200" dirty="0">
                <a:solidFill>
                  <a:srgbClr val="1E293B"/>
                </a:solidFill>
                <a:latin typeface="Calibri" pitchFamily="34" charset="0"/>
                <a:ea typeface="Calibri" pitchFamily="34" charset="-122"/>
                <a:cs typeface="Calibri" pitchFamily="34" charset="-120"/>
              </a:rPr>
              <a:t>Cohen &amp; Felson's (1979) routine activity theory suggests these platforms remove 'capable guardianship,' lowering the barrier for criminal organisation.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548640"/>
          </a:xfrm>
          <a:prstGeom prst="rect">
            <a:avLst/>
          </a:prstGeom>
          <a:noFill/>
          <a:ln/>
        </p:spPr>
        <p:txBody>
          <a:bodyPr wrap="square" lIns="0" tIns="0" rIns="0" bIns="0" rtlCol="0" anchor="ctr"/>
          <a:lstStyle/>
          <a:p>
            <a:pPr marL="0" indent="0">
              <a:buNone/>
            </a:pPr>
            <a:r>
              <a:rPr lang="en-US" sz="3000" b="1" dirty="0">
                <a:solidFill>
                  <a:srgbClr val="1B2541"/>
                </a:solidFill>
                <a:latin typeface="Georgia" pitchFamily="34" charset="0"/>
                <a:ea typeface="Georgia" pitchFamily="34" charset="-122"/>
                <a:cs typeface="Georgia" pitchFamily="34" charset="-120"/>
              </a:rPr>
              <a:t>Ethical Considerations</a:t>
            </a:r>
            <a:endParaRPr lang="en-US" sz="3000" dirty="0"/>
          </a:p>
        </p:txBody>
      </p:sp>
      <p:sp>
        <p:nvSpPr>
          <p:cNvPr id="3" name="Shape 1"/>
          <p:cNvSpPr/>
          <p:nvPr/>
        </p:nvSpPr>
        <p:spPr>
          <a:xfrm>
            <a:off x="640080" y="1188720"/>
            <a:ext cx="393192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640080" y="1188720"/>
            <a:ext cx="73152" cy="1463040"/>
          </a:xfrm>
          <a:prstGeom prst="rect">
            <a:avLst/>
          </a:prstGeom>
          <a:solidFill>
            <a:srgbClr val="F59E0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68680" y="1325880"/>
            <a:ext cx="320040" cy="320040"/>
          </a:xfrm>
          <a:prstGeom prst="rect">
            <a:avLst/>
          </a:prstGeom>
        </p:spPr>
      </p:pic>
      <p:sp>
        <p:nvSpPr>
          <p:cNvPr id="6" name="Text 3"/>
          <p:cNvSpPr/>
          <p:nvPr/>
        </p:nvSpPr>
        <p:spPr>
          <a:xfrm>
            <a:off x="1280160" y="1325880"/>
            <a:ext cx="3017520" cy="320040"/>
          </a:xfrm>
          <a:prstGeom prst="rect">
            <a:avLst/>
          </a:prstGeom>
          <a:noFill/>
          <a:ln/>
        </p:spPr>
        <p:txBody>
          <a:bodyPr wrap="square" lIns="0" tIns="0" rIns="0" bIns="0" rtlCol="0" anchor="ctr"/>
          <a:lstStyle/>
          <a:p>
            <a:pPr marL="0" indent="0">
              <a:buNone/>
            </a:pPr>
            <a:r>
              <a:rPr lang="en-US" sz="1400" b="1" dirty="0">
                <a:solidFill>
                  <a:srgbClr val="1B2541"/>
                </a:solidFill>
                <a:latin typeface="Georgia" pitchFamily="34" charset="0"/>
                <a:ea typeface="Georgia" pitchFamily="34" charset="-122"/>
                <a:cs typeface="Georgia" pitchFamily="34" charset="-120"/>
              </a:rPr>
              <a:t>Reporting Bias</a:t>
            </a:r>
            <a:endParaRPr lang="en-US" sz="1400" dirty="0"/>
          </a:p>
        </p:txBody>
      </p:sp>
      <p:sp>
        <p:nvSpPr>
          <p:cNvPr id="7" name="Text 4"/>
          <p:cNvSpPr/>
          <p:nvPr/>
        </p:nvSpPr>
        <p:spPr>
          <a:xfrm>
            <a:off x="868680" y="1737360"/>
            <a:ext cx="3474720" cy="822960"/>
          </a:xfrm>
          <a:prstGeom prst="rect">
            <a:avLst/>
          </a:prstGeom>
          <a:noFill/>
          <a:ln/>
        </p:spPr>
        <p:txBody>
          <a:bodyPr wrap="square" lIns="0" tIns="0" rIns="0" bIns="0" rtlCol="0" anchor="t"/>
          <a:lstStyle/>
          <a:p>
            <a:pPr marL="0" indent="0">
              <a:lnSpc>
                <a:spcPct val="130000"/>
              </a:lnSpc>
              <a:buNone/>
            </a:pPr>
            <a:r>
              <a:rPr lang="en-US" sz="1100" dirty="0">
                <a:solidFill>
                  <a:srgbClr val="1E293B"/>
                </a:solidFill>
                <a:latin typeface="Calibri" pitchFamily="34" charset="0"/>
                <a:ea typeface="Calibri" pitchFamily="34" charset="-122"/>
                <a:cs typeface="Calibri" pitchFamily="34" charset="-120"/>
              </a:rPr>
              <a:t>Gang-related social media activity may be over- or under-reported depending on law enforcement focus and media attention, skewing research findings.</a:t>
            </a:r>
            <a:endParaRPr lang="en-US" sz="1100" dirty="0"/>
          </a:p>
        </p:txBody>
      </p:sp>
      <p:sp>
        <p:nvSpPr>
          <p:cNvPr id="8" name="Shape 5"/>
          <p:cNvSpPr/>
          <p:nvPr/>
        </p:nvSpPr>
        <p:spPr>
          <a:xfrm>
            <a:off x="4846320" y="1188720"/>
            <a:ext cx="393192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6"/>
          <p:cNvSpPr/>
          <p:nvPr/>
        </p:nvSpPr>
        <p:spPr>
          <a:xfrm>
            <a:off x="4846320" y="1188720"/>
            <a:ext cx="73152" cy="1463040"/>
          </a:xfrm>
          <a:prstGeom prst="rect">
            <a:avLst/>
          </a:prstGeom>
          <a:solidFill>
            <a:srgbClr val="F59E0B"/>
          </a:solidFill>
          <a:ln/>
        </p:spPr>
        <p:txBody>
          <a:bodyPr/>
          <a:lstStyle/>
          <a:p>
            <a:endParaRPr lang="en-US"/>
          </a:p>
        </p:txBody>
      </p:sp>
      <p:pic>
        <p:nvPicPr>
          <p:cNvPr id="10" name="Image 1" descr="preencoded.png"/>
          <p:cNvPicPr>
            <a:picLocks noChangeAspect="1"/>
          </p:cNvPicPr>
          <p:nvPr/>
        </p:nvPicPr>
        <p:blipFill>
          <a:blip r:embed="rId3"/>
          <a:stretch>
            <a:fillRect/>
          </a:stretch>
        </p:blipFill>
        <p:spPr>
          <a:xfrm>
            <a:off x="5074920" y="1325880"/>
            <a:ext cx="320040" cy="320040"/>
          </a:xfrm>
          <a:prstGeom prst="rect">
            <a:avLst/>
          </a:prstGeom>
        </p:spPr>
      </p:pic>
      <p:sp>
        <p:nvSpPr>
          <p:cNvPr id="11" name="Text 7"/>
          <p:cNvSpPr/>
          <p:nvPr/>
        </p:nvSpPr>
        <p:spPr>
          <a:xfrm>
            <a:off x="5486400" y="1325880"/>
            <a:ext cx="3017520" cy="320040"/>
          </a:xfrm>
          <a:prstGeom prst="rect">
            <a:avLst/>
          </a:prstGeom>
          <a:noFill/>
          <a:ln/>
        </p:spPr>
        <p:txBody>
          <a:bodyPr wrap="square" lIns="0" tIns="0" rIns="0" bIns="0" rtlCol="0" anchor="ctr"/>
          <a:lstStyle/>
          <a:p>
            <a:pPr marL="0" indent="0">
              <a:buNone/>
            </a:pPr>
            <a:r>
              <a:rPr lang="en-US" sz="1400" b="1" dirty="0">
                <a:solidFill>
                  <a:srgbClr val="1B2541"/>
                </a:solidFill>
                <a:latin typeface="Georgia" pitchFamily="34" charset="0"/>
                <a:ea typeface="Georgia" pitchFamily="34" charset="-122"/>
                <a:cs typeface="Georgia" pitchFamily="34" charset="-120"/>
              </a:rPr>
              <a:t>Privacy in Social Media Research</a:t>
            </a:r>
            <a:endParaRPr lang="en-US" sz="1400" dirty="0"/>
          </a:p>
        </p:txBody>
      </p:sp>
      <p:sp>
        <p:nvSpPr>
          <p:cNvPr id="12" name="Text 8"/>
          <p:cNvSpPr/>
          <p:nvPr/>
        </p:nvSpPr>
        <p:spPr>
          <a:xfrm>
            <a:off x="5074920" y="1737360"/>
            <a:ext cx="3474720" cy="822960"/>
          </a:xfrm>
          <a:prstGeom prst="rect">
            <a:avLst/>
          </a:prstGeom>
          <a:noFill/>
          <a:ln/>
        </p:spPr>
        <p:txBody>
          <a:bodyPr wrap="square" lIns="0" tIns="0" rIns="0" bIns="0" rtlCol="0" anchor="t"/>
          <a:lstStyle/>
          <a:p>
            <a:pPr marL="0" indent="0">
              <a:lnSpc>
                <a:spcPct val="130000"/>
              </a:lnSpc>
              <a:buNone/>
            </a:pPr>
            <a:r>
              <a:rPr lang="en-US" sz="1100" dirty="0">
                <a:solidFill>
                  <a:srgbClr val="1E293B"/>
                </a:solidFill>
                <a:latin typeface="Calibri" pitchFamily="34" charset="0"/>
                <a:ea typeface="Calibri" pitchFamily="34" charset="-122"/>
                <a:cs typeface="Calibri" pitchFamily="34" charset="-120"/>
              </a:rPr>
              <a:t>Studying online gang activity raises concerns about informed consent, surveillance ethics, and the use of publicly available but sensitive data.</a:t>
            </a:r>
            <a:endParaRPr lang="en-US" sz="1100" dirty="0"/>
          </a:p>
        </p:txBody>
      </p:sp>
      <p:sp>
        <p:nvSpPr>
          <p:cNvPr id="13" name="Shape 9"/>
          <p:cNvSpPr/>
          <p:nvPr/>
        </p:nvSpPr>
        <p:spPr>
          <a:xfrm>
            <a:off x="640080" y="2926080"/>
            <a:ext cx="393192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0"/>
          <p:cNvSpPr/>
          <p:nvPr/>
        </p:nvSpPr>
        <p:spPr>
          <a:xfrm>
            <a:off x="640080" y="2926080"/>
            <a:ext cx="73152" cy="1463040"/>
          </a:xfrm>
          <a:prstGeom prst="rect">
            <a:avLst/>
          </a:prstGeom>
          <a:solidFill>
            <a:srgbClr val="F59E0B"/>
          </a:solidFill>
          <a:ln/>
        </p:spPr>
        <p:txBody>
          <a:bodyPr/>
          <a:lstStyle/>
          <a:p>
            <a:endParaRPr lang="en-US"/>
          </a:p>
        </p:txBody>
      </p:sp>
      <p:pic>
        <p:nvPicPr>
          <p:cNvPr id="15" name="Image 2" descr="preencoded.png"/>
          <p:cNvPicPr>
            <a:picLocks noChangeAspect="1"/>
          </p:cNvPicPr>
          <p:nvPr/>
        </p:nvPicPr>
        <p:blipFill>
          <a:blip r:embed="rId3"/>
          <a:stretch>
            <a:fillRect/>
          </a:stretch>
        </p:blipFill>
        <p:spPr>
          <a:xfrm>
            <a:off x="868680" y="3063240"/>
            <a:ext cx="320040" cy="320040"/>
          </a:xfrm>
          <a:prstGeom prst="rect">
            <a:avLst/>
          </a:prstGeom>
        </p:spPr>
      </p:pic>
      <p:sp>
        <p:nvSpPr>
          <p:cNvPr id="16" name="Text 11"/>
          <p:cNvSpPr/>
          <p:nvPr/>
        </p:nvSpPr>
        <p:spPr>
          <a:xfrm>
            <a:off x="1280160" y="3063240"/>
            <a:ext cx="3017520" cy="320040"/>
          </a:xfrm>
          <a:prstGeom prst="rect">
            <a:avLst/>
          </a:prstGeom>
          <a:noFill/>
          <a:ln/>
        </p:spPr>
        <p:txBody>
          <a:bodyPr wrap="square" lIns="0" tIns="0" rIns="0" bIns="0" rtlCol="0" anchor="ctr"/>
          <a:lstStyle/>
          <a:p>
            <a:pPr marL="0" indent="0">
              <a:buNone/>
            </a:pPr>
            <a:r>
              <a:rPr lang="en-US" sz="1400" b="1" dirty="0">
                <a:solidFill>
                  <a:srgbClr val="1B2541"/>
                </a:solidFill>
                <a:latin typeface="Georgia" pitchFamily="34" charset="0"/>
                <a:ea typeface="Georgia" pitchFamily="34" charset="-122"/>
                <a:cs typeface="Georgia" pitchFamily="34" charset="-120"/>
              </a:rPr>
              <a:t>Labelling &amp; Stigmatisation</a:t>
            </a:r>
            <a:endParaRPr lang="en-US" sz="1400" dirty="0"/>
          </a:p>
        </p:txBody>
      </p:sp>
      <p:sp>
        <p:nvSpPr>
          <p:cNvPr id="17" name="Text 12"/>
          <p:cNvSpPr/>
          <p:nvPr/>
        </p:nvSpPr>
        <p:spPr>
          <a:xfrm>
            <a:off x="868680" y="3474720"/>
            <a:ext cx="3474720" cy="822960"/>
          </a:xfrm>
          <a:prstGeom prst="rect">
            <a:avLst/>
          </a:prstGeom>
          <a:noFill/>
          <a:ln/>
        </p:spPr>
        <p:txBody>
          <a:bodyPr wrap="square" lIns="0" tIns="0" rIns="0" bIns="0" rtlCol="0" anchor="t"/>
          <a:lstStyle/>
          <a:p>
            <a:pPr marL="0" indent="0">
              <a:lnSpc>
                <a:spcPct val="130000"/>
              </a:lnSpc>
              <a:buNone/>
            </a:pPr>
            <a:r>
              <a:rPr lang="en-US" sz="1100" dirty="0">
                <a:solidFill>
                  <a:srgbClr val="1E293B"/>
                </a:solidFill>
                <a:latin typeface="Calibri" pitchFamily="34" charset="0"/>
                <a:ea typeface="Calibri" pitchFamily="34" charset="-122"/>
                <a:cs typeface="Calibri" pitchFamily="34" charset="-120"/>
              </a:rPr>
              <a:t>Research must avoid reinforcing harmful stereotypes that associate certain communities or demographics with criminality based on social media engagement.</a:t>
            </a:r>
            <a:endParaRPr lang="en-US" sz="1100" dirty="0"/>
          </a:p>
        </p:txBody>
      </p:sp>
      <p:sp>
        <p:nvSpPr>
          <p:cNvPr id="18" name="Shape 13"/>
          <p:cNvSpPr/>
          <p:nvPr/>
        </p:nvSpPr>
        <p:spPr>
          <a:xfrm>
            <a:off x="4846320" y="2926080"/>
            <a:ext cx="393192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9" name="Shape 14"/>
          <p:cNvSpPr/>
          <p:nvPr/>
        </p:nvSpPr>
        <p:spPr>
          <a:xfrm>
            <a:off x="4846320" y="2926080"/>
            <a:ext cx="73152" cy="1463040"/>
          </a:xfrm>
          <a:prstGeom prst="rect">
            <a:avLst/>
          </a:prstGeom>
          <a:solidFill>
            <a:srgbClr val="F59E0B"/>
          </a:solidFill>
          <a:ln/>
        </p:spPr>
        <p:txBody>
          <a:bodyPr/>
          <a:lstStyle/>
          <a:p>
            <a:endParaRPr lang="en-US"/>
          </a:p>
        </p:txBody>
      </p:sp>
      <p:pic>
        <p:nvPicPr>
          <p:cNvPr id="20" name="Image 3" descr="preencoded.png"/>
          <p:cNvPicPr>
            <a:picLocks noChangeAspect="1"/>
          </p:cNvPicPr>
          <p:nvPr/>
        </p:nvPicPr>
        <p:blipFill>
          <a:blip r:embed="rId3"/>
          <a:stretch>
            <a:fillRect/>
          </a:stretch>
        </p:blipFill>
        <p:spPr>
          <a:xfrm>
            <a:off x="5074920" y="3063240"/>
            <a:ext cx="320040" cy="320040"/>
          </a:xfrm>
          <a:prstGeom prst="rect">
            <a:avLst/>
          </a:prstGeom>
        </p:spPr>
      </p:pic>
      <p:sp>
        <p:nvSpPr>
          <p:cNvPr id="21" name="Text 15"/>
          <p:cNvSpPr/>
          <p:nvPr/>
        </p:nvSpPr>
        <p:spPr>
          <a:xfrm>
            <a:off x="5486400" y="3063240"/>
            <a:ext cx="3017520" cy="320040"/>
          </a:xfrm>
          <a:prstGeom prst="rect">
            <a:avLst/>
          </a:prstGeom>
          <a:noFill/>
          <a:ln/>
        </p:spPr>
        <p:txBody>
          <a:bodyPr wrap="square" lIns="0" tIns="0" rIns="0" bIns="0" rtlCol="0" anchor="ctr"/>
          <a:lstStyle/>
          <a:p>
            <a:pPr marL="0" indent="0">
              <a:buNone/>
            </a:pPr>
            <a:r>
              <a:rPr lang="en-US" sz="1400" b="1" dirty="0">
                <a:solidFill>
                  <a:srgbClr val="1B2541"/>
                </a:solidFill>
                <a:latin typeface="Georgia" pitchFamily="34" charset="0"/>
                <a:ea typeface="Georgia" pitchFamily="34" charset="-122"/>
                <a:cs typeface="Georgia" pitchFamily="34" charset="-120"/>
              </a:rPr>
              <a:t>Platform Responsibility</a:t>
            </a:r>
            <a:endParaRPr lang="en-US" sz="1400" dirty="0"/>
          </a:p>
        </p:txBody>
      </p:sp>
      <p:sp>
        <p:nvSpPr>
          <p:cNvPr id="22" name="Text 16"/>
          <p:cNvSpPr/>
          <p:nvPr/>
        </p:nvSpPr>
        <p:spPr>
          <a:xfrm>
            <a:off x="5074920" y="3474720"/>
            <a:ext cx="3474720" cy="822960"/>
          </a:xfrm>
          <a:prstGeom prst="rect">
            <a:avLst/>
          </a:prstGeom>
          <a:noFill/>
          <a:ln/>
        </p:spPr>
        <p:txBody>
          <a:bodyPr wrap="square" lIns="0" tIns="0" rIns="0" bIns="0" rtlCol="0" anchor="t"/>
          <a:lstStyle/>
          <a:p>
            <a:pPr marL="0" indent="0">
              <a:lnSpc>
                <a:spcPct val="130000"/>
              </a:lnSpc>
              <a:buNone/>
            </a:pPr>
            <a:r>
              <a:rPr lang="en-US" sz="1100" dirty="0">
                <a:solidFill>
                  <a:srgbClr val="1E293B"/>
                </a:solidFill>
                <a:latin typeface="Calibri" pitchFamily="34" charset="0"/>
                <a:ea typeface="Calibri" pitchFamily="34" charset="-122"/>
                <a:cs typeface="Calibri" pitchFamily="34" charset="-120"/>
              </a:rPr>
              <a:t>Ethical questions arise around how much responsibility platforms bear for algorithmically promoted radicalising content versus individual agency.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640080" y="274320"/>
            <a:ext cx="7772400" cy="502920"/>
          </a:xfrm>
          <a:prstGeom prst="rect">
            <a:avLst/>
          </a:prstGeom>
          <a:noFill/>
          <a:ln/>
        </p:spPr>
        <p:txBody>
          <a:bodyPr wrap="square" lIns="0" tIns="0" rIns="0" bIns="0" rtlCol="0" anchor="ctr"/>
          <a:lstStyle/>
          <a:p>
            <a:pPr marL="0" indent="0">
              <a:buNone/>
            </a:pPr>
            <a:r>
              <a:rPr lang="en-US" sz="2800" b="1" dirty="0">
                <a:solidFill>
                  <a:srgbClr val="1B2541"/>
                </a:solidFill>
                <a:latin typeface="Georgia" pitchFamily="34" charset="0"/>
                <a:ea typeface="Georgia" pitchFamily="34" charset="-122"/>
                <a:cs typeface="Georgia" pitchFamily="34" charset="-120"/>
              </a:rPr>
              <a:t>References</a:t>
            </a:r>
            <a:endParaRPr lang="en-US" sz="2800" dirty="0"/>
          </a:p>
        </p:txBody>
      </p:sp>
      <p:sp>
        <p:nvSpPr>
          <p:cNvPr id="3" name="Text 1"/>
          <p:cNvSpPr/>
          <p:nvPr/>
        </p:nvSpPr>
        <p:spPr>
          <a:xfrm>
            <a:off x="640080" y="868680"/>
            <a:ext cx="7863840" cy="3931920"/>
          </a:xfrm>
          <a:prstGeom prst="rect">
            <a:avLst/>
          </a:prstGeom>
          <a:noFill/>
          <a:ln/>
        </p:spPr>
        <p:txBody>
          <a:bodyPr wrap="square" lIns="0" tIns="0" rIns="0" bIns="0" rtlCol="0" anchor="t"/>
          <a:lstStyle/>
          <a:p>
            <a:pPr marL="0" indent="0">
              <a:lnSpc>
                <a:spcPct val="120000"/>
              </a:lnSpc>
              <a:spcAft>
                <a:spcPts val="600"/>
              </a:spcAft>
              <a:buNone/>
            </a:pPr>
            <a:r>
              <a:rPr lang="en-US" sz="950" dirty="0">
                <a:solidFill>
                  <a:srgbClr val="1E293B"/>
                </a:solidFill>
                <a:latin typeface="Calibri" pitchFamily="34" charset="0"/>
                <a:ea typeface="Calibri" pitchFamily="34" charset="-122"/>
                <a:cs typeface="Calibri" pitchFamily="34" charset="-120"/>
              </a:rPr>
              <a:t>Cohen, L. E., &amp; Felson, M. (1979). Social change and crime rate trends: A routine activity approach. American Sociological Review, 44(4), 588–608.</a:t>
            </a:r>
            <a:endParaRPr lang="en-US" sz="950" dirty="0"/>
          </a:p>
          <a:p>
            <a:pPr marL="0" indent="0">
              <a:lnSpc>
                <a:spcPct val="120000"/>
              </a:lnSpc>
              <a:spcAft>
                <a:spcPts val="600"/>
              </a:spcAft>
              <a:buNone/>
            </a:pPr>
            <a:r>
              <a:rPr lang="en-US" sz="950" dirty="0">
                <a:solidFill>
                  <a:srgbClr val="1E293B"/>
                </a:solidFill>
                <a:latin typeface="Calibri" pitchFamily="34" charset="0"/>
                <a:ea typeface="Calibri" pitchFamily="34" charset="-122"/>
                <a:cs typeface="Calibri" pitchFamily="34" charset="-120"/>
              </a:rPr>
              <a:t>Dowling, C., Ting, I., &amp; Cubitt, T. (2023). Understanding and preventing internet-facilitated radicalisation. Australian Institute of Criminology.</a:t>
            </a:r>
            <a:endParaRPr lang="en-US" sz="950" dirty="0"/>
          </a:p>
          <a:p>
            <a:pPr marL="0" indent="0">
              <a:lnSpc>
                <a:spcPct val="120000"/>
              </a:lnSpc>
              <a:spcAft>
                <a:spcPts val="600"/>
              </a:spcAft>
              <a:buNone/>
            </a:pPr>
            <a:r>
              <a:rPr lang="en-US" sz="950" dirty="0">
                <a:solidFill>
                  <a:srgbClr val="1E293B"/>
                </a:solidFill>
                <a:latin typeface="Calibri" pitchFamily="34" charset="0"/>
                <a:ea typeface="Calibri" pitchFamily="34" charset="-122"/>
                <a:cs typeface="Calibri" pitchFamily="34" charset="-120"/>
              </a:rPr>
              <a:t>Merton, R. K. (1938). Social structure and anomie. American Sociological Review, 3(5), 672–682.</a:t>
            </a:r>
            <a:endParaRPr lang="en-US" sz="950" dirty="0"/>
          </a:p>
          <a:p>
            <a:pPr marL="0" indent="0">
              <a:lnSpc>
                <a:spcPct val="120000"/>
              </a:lnSpc>
              <a:spcAft>
                <a:spcPts val="600"/>
              </a:spcAft>
              <a:buNone/>
            </a:pPr>
            <a:r>
              <a:rPr lang="en-US" sz="950" dirty="0">
                <a:solidFill>
                  <a:srgbClr val="1E293B"/>
                </a:solidFill>
                <a:latin typeface="Calibri" pitchFamily="34" charset="0"/>
                <a:ea typeface="Calibri" pitchFamily="34" charset="-122"/>
                <a:cs typeface="Calibri" pitchFamily="34" charset="-120"/>
              </a:rPr>
              <a:t>Patton, D. U., Eschmann, R. D., Elsaesser, C., &amp; Bocanegra, E. (2016). Sticks, stones and Facebook accounts. Computers in Human Behavior, 65, 591–600.</a:t>
            </a:r>
            <a:endParaRPr lang="en-US" sz="950" dirty="0"/>
          </a:p>
          <a:p>
            <a:pPr marL="0" indent="0">
              <a:lnSpc>
                <a:spcPct val="120000"/>
              </a:lnSpc>
              <a:spcAft>
                <a:spcPts val="600"/>
              </a:spcAft>
              <a:buNone/>
            </a:pPr>
            <a:r>
              <a:rPr lang="en-US" sz="950" dirty="0">
                <a:solidFill>
                  <a:srgbClr val="1E293B"/>
                </a:solidFill>
                <a:latin typeface="Calibri" pitchFamily="34" charset="0"/>
                <a:ea typeface="Calibri" pitchFamily="34" charset="-122"/>
                <a:cs typeface="Calibri" pitchFamily="34" charset="-120"/>
              </a:rPr>
              <a:t>Pyrooz, D. C., Decker, S. H., &amp; Webb, V. J. (2014). The ties that bind: Desistance from gangs. Crime &amp; Delinquency, 60(4), 491–516.</a:t>
            </a:r>
            <a:endParaRPr lang="en-US" sz="950" dirty="0"/>
          </a:p>
          <a:p>
            <a:pPr marL="0" indent="0">
              <a:lnSpc>
                <a:spcPct val="120000"/>
              </a:lnSpc>
              <a:spcAft>
                <a:spcPts val="600"/>
              </a:spcAft>
              <a:buNone/>
            </a:pPr>
            <a:r>
              <a:rPr lang="en-US" sz="950" dirty="0">
                <a:solidFill>
                  <a:srgbClr val="1E293B"/>
                </a:solidFill>
                <a:latin typeface="Calibri" pitchFamily="34" charset="0"/>
                <a:ea typeface="Calibri" pitchFamily="34" charset="-122"/>
                <a:cs typeface="Calibri" pitchFamily="34" charset="-120"/>
              </a:rPr>
              <a:t>Ribeiro, M. H., et al. (2020). Auditing radicalization pathways on YouTube. Proceedings of FAT* 2020, 131–141.</a:t>
            </a:r>
            <a:endParaRPr lang="en-US" sz="950" dirty="0"/>
          </a:p>
          <a:p>
            <a:pPr marL="0" indent="0">
              <a:lnSpc>
                <a:spcPct val="120000"/>
              </a:lnSpc>
              <a:spcAft>
                <a:spcPts val="600"/>
              </a:spcAft>
              <a:buNone/>
            </a:pPr>
            <a:r>
              <a:rPr lang="en-US" sz="950" dirty="0">
                <a:solidFill>
                  <a:srgbClr val="1E293B"/>
                </a:solidFill>
                <a:latin typeface="Calibri" pitchFamily="34" charset="0"/>
                <a:ea typeface="Calibri" pitchFamily="34" charset="-122"/>
                <a:cs typeface="Calibri" pitchFamily="34" charset="-120"/>
              </a:rPr>
              <a:t>Schils, N., &amp; Pauwels, L. (2016). Differential online exposure to extremist content and political violence. Terrorism and Political Violence, 28(1), 1–29.</a:t>
            </a:r>
            <a:endParaRPr lang="en-US" sz="950" dirty="0"/>
          </a:p>
          <a:p>
            <a:pPr marL="0" indent="0">
              <a:lnSpc>
                <a:spcPct val="120000"/>
              </a:lnSpc>
              <a:spcAft>
                <a:spcPts val="600"/>
              </a:spcAft>
              <a:buNone/>
            </a:pPr>
            <a:r>
              <a:rPr lang="en-US" sz="950" dirty="0">
                <a:solidFill>
                  <a:srgbClr val="1E293B"/>
                </a:solidFill>
                <a:latin typeface="Calibri" pitchFamily="34" charset="0"/>
                <a:ea typeface="Calibri" pitchFamily="34" charset="-122"/>
                <a:cs typeface="Calibri" pitchFamily="34" charset="-120"/>
              </a:rPr>
              <a:t>Storrod, M. L., &amp; Densley, J. A. (2017). 'Going viral' and 'going country'. Journal of Youth Studies, 20(6), 677–696.</a:t>
            </a:r>
            <a:endParaRPr lang="en-US" sz="950" dirty="0"/>
          </a:p>
          <a:p>
            <a:pPr marL="0" indent="0">
              <a:lnSpc>
                <a:spcPct val="120000"/>
              </a:lnSpc>
              <a:spcAft>
                <a:spcPts val="600"/>
              </a:spcAft>
              <a:buNone/>
            </a:pPr>
            <a:r>
              <a:rPr lang="en-US" sz="950" dirty="0">
                <a:solidFill>
                  <a:srgbClr val="1E293B"/>
                </a:solidFill>
                <a:latin typeface="Calibri" pitchFamily="34" charset="0"/>
                <a:ea typeface="Calibri" pitchFamily="34" charset="-122"/>
                <a:cs typeface="Calibri" pitchFamily="34" charset="-120"/>
              </a:rPr>
              <a:t>Tittle, C. R., Antonaccio, O., &amp; Botchkovar, E. (2012). Social learning, reinforcement and crime. Social Forces, 90(3), 863–890.</a:t>
            </a:r>
            <a:endParaRPr lang="en-US" sz="950" dirty="0"/>
          </a:p>
          <a:p>
            <a:pPr marL="0" indent="0">
              <a:lnSpc>
                <a:spcPct val="120000"/>
              </a:lnSpc>
              <a:spcAft>
                <a:spcPts val="600"/>
              </a:spcAft>
              <a:buNone/>
            </a:pPr>
            <a:r>
              <a:rPr lang="en-US" sz="950" dirty="0">
                <a:solidFill>
                  <a:srgbClr val="1E293B"/>
                </a:solidFill>
                <a:latin typeface="Calibri" pitchFamily="34" charset="0"/>
                <a:ea typeface="Calibri" pitchFamily="34" charset="-122"/>
                <a:cs typeface="Calibri" pitchFamily="34" charset="-120"/>
              </a:rPr>
              <a:t>Wolfowicz, M., et al. (2022). Effects of media on radicalization outcomes: A systematic review. Campbell Systematic Reviews, 18(2), e1244.</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B2541"/>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B82F6"/>
          </a:solidFill>
          <a:ln/>
        </p:spPr>
        <p:txBody>
          <a:bodyPr/>
          <a:lstStyle/>
          <a:p>
            <a:endParaRPr lang="en-US"/>
          </a:p>
        </p:txBody>
      </p:sp>
      <p:sp>
        <p:nvSpPr>
          <p:cNvPr id="3" name="Shape 1"/>
          <p:cNvSpPr/>
          <p:nvPr/>
        </p:nvSpPr>
        <p:spPr>
          <a:xfrm>
            <a:off x="6217920" y="457200"/>
            <a:ext cx="3657600" cy="3657600"/>
          </a:xfrm>
          <a:prstGeom prst="ellipse">
            <a:avLst/>
          </a:prstGeom>
          <a:solidFill>
            <a:srgbClr val="2D3A5C"/>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223760" y="1371600"/>
            <a:ext cx="1645920" cy="1645920"/>
          </a:xfrm>
          <a:prstGeom prst="rect">
            <a:avLst/>
          </a:prstGeom>
        </p:spPr>
      </p:pic>
      <p:sp>
        <p:nvSpPr>
          <p:cNvPr id="5" name="Text 2"/>
          <p:cNvSpPr/>
          <p:nvPr/>
        </p:nvSpPr>
        <p:spPr>
          <a:xfrm>
            <a:off x="731520" y="1097280"/>
            <a:ext cx="5486400" cy="109728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6" name="Text 3"/>
          <p:cNvSpPr/>
          <p:nvPr/>
        </p:nvSpPr>
        <p:spPr>
          <a:xfrm>
            <a:off x="731520" y="2286000"/>
            <a:ext cx="5486400" cy="548640"/>
          </a:xfrm>
          <a:prstGeom prst="rect">
            <a:avLst/>
          </a:prstGeom>
          <a:noFill/>
          <a:ln/>
        </p:spPr>
        <p:txBody>
          <a:bodyPr wrap="square" lIns="0" tIns="0" rIns="0" bIns="0" rtlCol="0" anchor="ctr"/>
          <a:lstStyle/>
          <a:p>
            <a:pPr marL="0" indent="0">
              <a:buNone/>
            </a:pPr>
            <a:r>
              <a:rPr lang="en-US" sz="2000" dirty="0">
                <a:solidFill>
                  <a:srgbClr val="60A5FA"/>
                </a:solidFill>
                <a:latin typeface="Calibri" pitchFamily="34" charset="0"/>
                <a:ea typeface="Calibri" pitchFamily="34" charset="-122"/>
                <a:cs typeface="Calibri" pitchFamily="34" charset="-120"/>
              </a:rPr>
              <a:t>Questions &amp; Discussion</a:t>
            </a:r>
            <a:endParaRPr lang="en-US" sz="2000" dirty="0"/>
          </a:p>
        </p:txBody>
      </p:sp>
      <p:sp>
        <p:nvSpPr>
          <p:cNvPr id="7" name="Text 4"/>
          <p:cNvSpPr/>
          <p:nvPr/>
        </p:nvSpPr>
        <p:spPr>
          <a:xfrm>
            <a:off x="731520" y="3200400"/>
            <a:ext cx="5486400" cy="36576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Enrique Perezalonso  |  SP26 Psychology of Crime and Justice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1076</TotalTime>
  <Words>1094</Words>
  <Application>Microsoft Macintosh PowerPoint</Application>
  <PresentationFormat>On-screen Show (16:9)</PresentationFormat>
  <Paragraphs>95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Link Between Social Media and the Rise in Gang Culture</dc:title>
  <dc:subject>PptxGenJS Presentation</dc:subject>
  <dc:creator>Enrique Perez Alonso</dc:creator>
  <cp:lastModifiedBy>Perezalonso, Enrique</cp:lastModifiedBy>
  <cp:revision>2</cp:revision>
  <dcterms:created xsi:type="dcterms:W3CDTF">2026-04-29T15:31:03Z</dcterms:created>
  <dcterms:modified xsi:type="dcterms:W3CDTF">2026-04-30T09:29:23Z</dcterms:modified>
</cp:coreProperties>
</file>